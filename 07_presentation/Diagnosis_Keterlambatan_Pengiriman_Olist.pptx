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Tingkat Telat (%)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C1B1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Jun 2018
(terbaik)</c:v>
                </c:pt>
                <c:pt idx="1">
                  <c:v>Bulan normal
(dasar)</c:v>
                </c:pt>
                <c:pt idx="2">
                  <c:v>Nov 2017</c:v>
                </c:pt>
                <c:pt idx="3">
                  <c:v>Feb 2018</c:v>
                </c:pt>
                <c:pt idx="4">
                  <c:v>Mar 2018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1.36</c:v>
                </c:pt>
                <c:pt idx="1">
                  <c:v>6</c:v>
                </c:pt>
                <c:pt idx="2">
                  <c:v>14.31</c:v>
                </c:pt>
                <c:pt idx="3">
                  <c:v>15.99</c:v>
                </c:pt>
                <c:pt idx="4">
                  <c:v>21.36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34B-4EFD-BCFE-DE1210D8862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C1B1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DDD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D" sz="1000" b="0" i="0" u="none" strike="noStrike">
                    <a:solidFill>
                      <a:srgbClr val="000000"/>
                    </a:solidFill>
                    <a:latin typeface="Arial"/>
                  </a:rPr>
                  <a:t>% telat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C1B1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Kontribusi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C1B1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Transit kurir</c:v>
                </c:pt>
                <c:pt idx="1">
                  <c:v>Gudang penjual</c:v>
                </c:pt>
                <c:pt idx="2">
                  <c:v>Efek 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87</c:v>
                </c:pt>
                <c:pt idx="1">
                  <c:v>7</c:v>
                </c:pt>
                <c:pt idx="2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BA1-431A-A2FE-3CA96B1C43B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C1B1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Kenaikan tingkat telat (poin)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0&quot;pp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2C1B1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Espírito Santo</c:v>
                </c:pt>
                <c:pt idx="1">
                  <c:v>Bahia</c:v>
                </c:pt>
                <c:pt idx="2">
                  <c:v>Rio de Janeiro</c:v>
                </c:pt>
                <c:pt idx="3">
                  <c:v>Minas Gerais</c:v>
                </c:pt>
                <c:pt idx="4">
                  <c:v>São Paulo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29.7</c:v>
                </c:pt>
                <c:pt idx="1">
                  <c:v>17.7</c:v>
                </c:pt>
                <c:pt idx="2">
                  <c:v>17.600000000000001</c:v>
                </c:pt>
                <c:pt idx="3">
                  <c:v>17.5</c:v>
                </c:pt>
                <c:pt idx="4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B41-4D50-B925-B2F688A406A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C1B1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5078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ox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91440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34290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OPERASIONAL · JAN 2017 – AGS 2018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79476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Keterlambatan</a:t>
            </a:r>
            <a:endParaRPr lang="en-US" sz="4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Pengiriman Marketplace Olist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Disusun oleh Operations Analyst untuk Head of Logistics &amp; Fulfillment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Image 0" descr="assets/box_light.png">
            <a:extLst>
              <a:ext uri="{FF2B5EF4-FFF2-40B4-BE49-F238E27FC236}">
                <a16:creationId xmlns:a16="http://schemas.microsoft.com/office/drawing/2014/main" id="{10B19DFC-FDA9-153D-4463-3684674477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3834" y="2788920"/>
            <a:ext cx="5164333" cy="5583947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EKSEKUTIF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OTD 91,87% Terlihat Sehat, Menyembunyikan 3 Masalah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94751" y="1653508"/>
            <a:ext cx="1113817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96.184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762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dikirim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(Jan 2017–Ags 2018)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98360" y="1645920"/>
            <a:ext cx="948447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7.822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1762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tiba telat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(8,13% dari total)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7377" y="1610098"/>
            <a:ext cx="1201366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91,87%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21762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Delivery Rate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778240" y="1600200"/>
            <a:ext cx="2834640" cy="960120"/>
          </a:xfrm>
          <a:prstGeom prst="roundRect">
            <a:avLst>
              <a:gd name="adj" fmla="val 76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473281" y="1610098"/>
            <a:ext cx="1444557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9,55 hari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915400" y="217627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keterlambatan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(terparah 188,98 hari)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78892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297180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293522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Sekali telat, telatnya jauh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34472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meleset beberapa jam. Rata-rata keterlambatan 9,55 hari, dengan kasus terparah mencapai 188,98 hari.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297680" y="278892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297180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48056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93522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Masalahnya di jalan, bukan gudang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0" y="34472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dari selisih waktu telat vs tepat waktu terjadi di tahap transit kurir, hanya 7% di gudang penjual. Pembinaan penjual tidak menyentuh akar masalah.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46720" y="278892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0" y="297180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3522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Kerusakan lebih cepat dari dugaan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34472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 ulasan jatuh dari 4,30 ke 2,57 saat telat. Titik patah di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ke-3-7.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buruk melonjak dari 19,22% ke 61,29%.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2C1B1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</a:t>
            </a:r>
            <a:r>
              <a:rPr lang="en-US" sz="1250" b="1" dirty="0" err="1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</a:t>
            </a:r>
            <a:r>
              <a:rPr lang="en-US" sz="125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: </a:t>
            </a:r>
            <a:r>
              <a:rPr lang="en-US" sz="12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"nol keterlambatan", melainkan "jangan telat lebih dari 3 </a:t>
            </a:r>
            <a:r>
              <a:rPr lang="en-US" sz="1250" dirty="0" err="1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</a:t>
            </a:r>
            <a:r>
              <a:rPr lang="en-US" sz="12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</a:t>
            </a:r>
            <a:r>
              <a:rPr lang="en-US" sz="12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periode</a:t>
            </a:r>
            <a:r>
              <a:rPr lang="en-US" sz="12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</a:t>
            </a:r>
            <a:r>
              <a:rPr lang="en-US" sz="12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: 3.435 pelanggan kecewa berlebih, melekat pada pesanan senilai BRL 1.123.857</a:t>
            </a:r>
            <a:endParaRPr lang="en-US" sz="1250" dirty="0"/>
          </a:p>
        </p:txBody>
      </p:sp>
      <p:pic>
        <p:nvPicPr>
          <p:cNvPr id="33" name="Image 0" descr="assets/box_terracotta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10607040" y="5989320"/>
            <a:ext cx="502920" cy="50292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0" descr="assets/box_light.png">
            <a:extLst>
              <a:ext uri="{FF2B5EF4-FFF2-40B4-BE49-F238E27FC236}">
                <a16:creationId xmlns:a16="http://schemas.microsoft.com/office/drawing/2014/main" id="{9F7FB11D-46C7-A01C-2C88-DE275EA98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112792" y="5989320"/>
            <a:ext cx="18515813" cy="5757773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 &amp; PERTANYAAN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Lima Pertanyaan, </a:t>
            </a:r>
            <a:r>
              <a:rPr lang="en-US" sz="2700" b="1" dirty="0" err="1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Disusun</a:t>
            </a: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700" b="1" dirty="0" err="1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Mengerucut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adalah marketplace yang menghubungkan penjual kecil di Brasil </a:t>
            </a:r>
            <a:r>
              <a:rPr lang="en-US" sz="13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dengan</a:t>
            </a: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</a:t>
            </a: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Pengiriman</a:t>
            </a: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ditangani mitra kurir. Setiap pesanan membawa tanggal janji tiba </a:t>
            </a:r>
            <a:r>
              <a:rPr lang="en-US" sz="13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</a:t>
            </a: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checkout. Telat berarti tanggal terima aktual melewati tanggal janji tersebut.</a:t>
            </a:r>
            <a:endParaRPr lang="en-US" sz="13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1403792"/>
              </p:ext>
            </p:extLst>
          </p:nvPr>
        </p:nvGraphicFramePr>
        <p:xfrm>
          <a:off x="548640" y="2423160"/>
          <a:ext cx="11064240" cy="329184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4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Pertanyaan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Seberapa parah keterlambatannya? Persen pesanan telat, seberapa lama, kapan memburuk.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tahap mana keterlambatan terjadi? Gudang penjual atau pengiriman kurir.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Siapa/apa penyumbang terbesarnya? Penjual, wilayah tujuan, atau jenis produk.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Kapan risikonya memuncak? Pola musiman dan penyebab </a:t>
                      </a:r>
                      <a:r>
                        <a:rPr lang="en-US" sz="1300" dirty="0" err="1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krisis</a:t>
                      </a: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Feb - Mar 2018.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Berapa kerugiannya? Dampak keterlambatan terhadap kepuasan pelanggan.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Urutan </a:t>
            </a:r>
            <a:r>
              <a:rPr lang="en-US" sz="1200" i="1" dirty="0" err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dibuat</a:t>
            </a: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mengerucut</a:t>
            </a: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mengukur besar masalah → tahap &amp; pelaku → nilai kerugian.</a:t>
            </a:r>
            <a:endParaRPr lang="en-US" sz="1200" dirty="0"/>
          </a:p>
        </p:txBody>
      </p:sp>
      <p:pic>
        <p:nvPicPr>
          <p:cNvPr id="7" name="Image 0" descr="assets/box_terracotta.png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10607040" y="598932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assets/box_light.png">
            <a:extLst>
              <a:ext uri="{FF2B5EF4-FFF2-40B4-BE49-F238E27FC236}">
                <a16:creationId xmlns:a16="http://schemas.microsoft.com/office/drawing/2014/main" id="{E32853B0-6549-E1A7-3BA8-B814D502C6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720186"/>
            <a:ext cx="12192000" cy="12578186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Waktu Tempuh Dipecah Jadi Dua Ruas yang Tidak Tumpang Tindih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2349749"/>
              </p:ext>
            </p:extLst>
          </p:nvPr>
        </p:nvGraphicFramePr>
        <p:xfrm>
          <a:off x="548640" y="1554480"/>
          <a:ext cx="5394960" cy="30175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PostgreSQL, view analytics.fact_order_delivery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 analisis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96.184 pesanan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Jan 2017 - 31 Ags 2018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Cakupan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Hanya status delivered, tanggal terima terisi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Dikecualikan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pesanan dgn urutan tanggal mustahil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PostgreSQL, Python, Excel (</a:t>
                      </a:r>
                      <a:r>
                        <a:rPr lang="en-US" sz="1100" dirty="0" err="1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hasil</a:t>
                      </a: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identik</a:t>
                      </a: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6217920" y="155448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0" y="173736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170078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kurir (porsi penjual)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221284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Tanggal serah ke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kurir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tanggal pembelian. Waktu menyiapkan dan menyerahkan barang.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17920" y="310896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0" y="32918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903720" y="325526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 (porsi kurir)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376732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Tanggal terima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tanggal serah ke kurir. Waktu jaringan pengiriman.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Penanganan</a:t>
            </a:r>
            <a:r>
              <a:rPr lang="en-US" sz="1150" b="1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</a:t>
            </a:r>
            <a:r>
              <a:rPr lang="en-US" sz="1150" b="1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pesanan tercatat diterima pelanggan lebih dulu daripada diserahkan ke kurir — mustahil secara fisik. Pesanan ini ditandai has_sequence_anomaly dan dikeluarkan dari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Seluruhnya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kebetulan berstatus tepat waktu, sehingga jumlah pesanan telat tidak berubah.
</a:t>
            </a:r>
            <a:r>
              <a:rPr lang="en-US" sz="1150" b="1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dan median dilaporkan bersama 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karena sebaran keterlambatan sangat miring. Rata-rata untuk menaksir beban total, median untuk pengalaman pelanggan pada umumnya.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Q1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Sekali Telat, Melesetnya Jauh Melebihi Sekadar Terlambat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9,55 hari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keterlambatan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5,81 hari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keterlambatan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188,98 hari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 terparah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778240" y="1554480"/>
            <a:ext cx="28346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15400" y="16642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10,21 hari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915400" y="2103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kirim normal (pembanding)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606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3,74 hari antara rata-rata dan median menunjukkan </a:t>
            </a:r>
            <a:r>
              <a:rPr lang="en-US" sz="12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sebaran</a:t>
            </a: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miring. </a:t>
            </a:r>
            <a:r>
              <a:rPr lang="en-US" sz="12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Separuh</a:t>
            </a: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pesanan telat meleset ≤5,81 hari, sementara segelintir kasus ekstrem menarik rata-rata jauh ke atas.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Keterlambatan per Bulan - Bulan Terpilih</a:t>
            </a:r>
            <a:endParaRPr lang="en-US" sz="1300" dirty="0"/>
          </a:p>
        </p:txBody>
      </p:sp>
      <p:graphicFrame>
        <p:nvGraphicFramePr>
          <p:cNvPr id="18" name="Chart 0"/>
          <p:cNvGraphicFramePr/>
          <p:nvPr/>
        </p:nvGraphicFramePr>
        <p:xfrm>
          <a:off x="548640" y="3611880"/>
          <a:ext cx="694944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Shape 16"/>
          <p:cNvSpPr/>
          <p:nvPr/>
        </p:nvSpPr>
        <p:spPr>
          <a:xfrm>
            <a:off x="7726680" y="361188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909560" y="379476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90956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0" y="375818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2017 — musim puncak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4270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naik 63% (4.478 → 7.288 pesanan). Pola khas Black Friday menekan kapasitas gudang.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726680" y="4937760"/>
            <a:ext cx="3886200" cy="1325880"/>
          </a:xfrm>
          <a:prstGeom prst="roundRect">
            <a:avLst>
              <a:gd name="adj" fmla="val 5517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09560" y="51206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909560" y="5120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412480" y="508406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Feb–Mar 2018 — bukan kapasitas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59612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Terjadi pada volume normal, namun lebih parah dari Nov 2017. Penyebabnya harus dicari di tempat lain (lihat Q2).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Q2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87% Selisih Waktu Terjadi di Transit Kurir, Bukan di Gudang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949440" cy="19659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Tahap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Tepat waktu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 kurir (penjual)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 (kurir)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6,93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23,93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9,71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29,15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290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Ketiga angka pada tiap baris adalah median terpisah, bukan penjumlahan — median dari total ≠ total dari median.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16002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Kontribusi terhadap Selisih 19,44 Hari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7818120" y="1965960"/>
          <a:ext cx="379476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1605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2C1B12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22960" y="4251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Kesimpulan: keterlambatan terjadi di tahap pengiriman kurir. </a:t>
            </a: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Gudang penjual ikut melambat pada pesanan telat, tapi kontribusinya kecil (7%) dan tidak menjelaskan besarnya masalah. Perbaikan sejak Apr 2018 membuktikan masalah ini dapat diselesaikan.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Q2 (LANJUTAN)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 Krisis, Dua Penyebab Berbeda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Terhadap tingkat dasar 2,2 hari (ke kurir) dan 7,0 hari (transit):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26974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 kurir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 memburuk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2017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 hari (+44%)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Gudang penjual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11,02 hari (+57%)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Pengiriman kurir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 hari (normal)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9,88 hari (+41%)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Pengiriman kurir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Ags 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Keduanya membaik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0060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5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494690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2017 — Kapasitas Gudang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545896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kurir melonjak +44% saat volume musim puncak naik 63%. Ini masalah kapasitas gudang penjual.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17920" y="480060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00800" y="49834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0080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F/M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903720" y="494690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Feb–Mar 2018 — Jaringan Kurir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545896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 melonjak +57% dan +41% pada volume normal. Ini masalah jaringan pengiriman kurir, bukan kapasitas.</a:t>
            </a:r>
            <a:endParaRPr lang="en-US" sz="1150" dirty="0"/>
          </a:p>
        </p:txBody>
      </p:sp>
      <p:pic>
        <p:nvPicPr>
          <p:cNvPr id="16" name="Image 0" descr="assets/box_terracotta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10607040" y="5989320"/>
            <a:ext cx="502920" cy="5029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Q3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Penjual Bukan Akar Masalahnya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2.943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penjual aktif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1.388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pernah kirim pesanan telat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55448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16642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23,98%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2103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keterlambatan disumbang 20 penjual teratas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28346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79806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Konsentrasi ini menyesatkan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310128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penjual teratas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menangani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1.000 - 1.800 pesanan masing-masing dengan tingkat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10 - 11%. Hanya sedikit di atas rata-rata keseluruhan 8,13%. Mereka muncul di puncak daftar karena volume besar, bukan kinerja buruk.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17920" y="26517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28346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79806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Penjual bermasalah justru tak terlihat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310128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Bervolume kecil dan tidak muncul di daftar teratas.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Contohnya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389 pesanan dengan 23,14%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 380 pesanan dengan 16,58% telat.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Jumlahnya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sedikit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dampak pembinaan penjual ke angka keseluruhan akan kecil.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7091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2C1B1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Implikasi: </a:t>
            </a:r>
            <a:r>
              <a:rPr lang="en-US" sz="13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pembinaan penjual akan berdampak kecil terhadap angka keseluruhan. Akar masalah ada di </a:t>
            </a:r>
            <a:r>
              <a:rPr lang="en-US" sz="13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tempat</a:t>
            </a:r>
            <a:r>
              <a:rPr lang="en-US" sz="13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lain. </a:t>
            </a:r>
            <a:r>
              <a:rPr lang="en-US" sz="13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Lihat</a:t>
            </a:r>
            <a:r>
              <a:rPr lang="en-US" sz="13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wilayah tujuan berikut.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Q3 (LANJUTAN)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Wilayah Tujuan Adalah Akar Masalahnya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355690"/>
              </p:ext>
            </p:extLst>
          </p:nvPr>
        </p:nvGraphicFramePr>
        <p:xfrm>
          <a:off x="548640" y="1554480"/>
          <a:ext cx="6675120" cy="24688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Provinsi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transit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Maranhão (MA)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19,64%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15,68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Pará (PA)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17,30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São Paulo (SP)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Paraná (PR)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7,18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79476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Rentang antarprovinsi 3,9× (Maranhão vs Paraná). Provinsi utara &amp; timur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yaitu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Maranhão, Ceará, Pará, Bahia konsisten terburuk. São Paulo menyerap 42% volume (40.386 pesanan) dengan kinerja terbaik kedua.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7452360" y="1554480"/>
            <a:ext cx="4160520" cy="2423160"/>
          </a:xfrm>
          <a:prstGeom prst="roundRect">
            <a:avLst>
              <a:gd name="adj" fmla="val 30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35240" y="173736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352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RJ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17007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Pengecualian: Rio de Janeiro</a:t>
            </a:r>
            <a:endParaRPr lang="en-US" sz="1400" dirty="0"/>
          </a:p>
        </p:txBody>
      </p:sp>
      <p:sp>
        <p:nvSpPr>
          <p:cNvPr id="4" name="Text 7"/>
          <p:cNvSpPr txBox="1"/>
          <p:nvPr/>
        </p:nvSpPr>
        <p:spPr>
          <a:xfrm>
            <a:off x="7726680" y="2212848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13,52% keterlambatan padahal transit hanya 8,38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jauh lebih cepat dari Maranhão/Pará. Volume 12.310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kasus kecil. Dugaan paling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masuk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akal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adalah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tanggal janji terlalu optimis, bukan soal jarak/jaringan.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452360" y="4114800"/>
            <a:ext cx="4160520" cy="1325880"/>
          </a:xfrm>
          <a:prstGeom prst="roundRect">
            <a:avLst>
              <a:gd name="adj" fmla="val 5926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35240" y="42976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63524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138160" y="42611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Jenis produk bukan faktor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477316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Perbedaan telat antarkategori produk tidak menunjukkan pola yang cukup kuat untuk ditindaklanjuti, termasuk setelah berat produk diperhitungkan.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Catatan: peringkat di atas dibatasi provinsi ≥500 pesanan. Tanpa batas ini, dasbor menampilkan puncak berbeda: Alagoas 23,99% (396 pesanan) &amp; Piauí 16,00% (475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Keduanya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benar, menjawab pertanyaan berbeda.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Q4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Janji Makin Ketat, Krisis Maret Bersifat Nasional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642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39,0 → 13,4 hari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323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janji pengiriman, Jan 2017–Ags 2018 (turun 66%)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34840" y="16642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1,36%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21323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titik terbaik, Jun 2018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3880" y="16642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10,39%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21323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telat naik lagi, Ags 2018 (janji di titik terketat)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606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Peringatan: pada Ags 2018 selisih janji di titik terendah (13,4 hari) dan keterlambatan naik kembali. Pola serupa terjadi Mar 2018, janji diperketat (24,3 → 21,3 hari) </a:t>
            </a:r>
            <a:r>
              <a:rPr lang="en-US" sz="12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tepat</a:t>
            </a:r>
            <a:r>
              <a:rPr lang="en-US" sz="12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</a:t>
            </a:r>
            <a:endParaRPr lang="en-US" sz="1200" dirty="0">
              <a:solidFill>
                <a:srgbClr val="4A40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   </a:t>
            </a:r>
            <a:r>
              <a:rPr lang="en-US" sz="12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gangguan</a:t>
            </a:r>
            <a:r>
              <a:rPr lang="en-US" sz="12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pengiriman berlangsung, memperparah bulan itu.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Krisis Maret 2018 </a:t>
            </a:r>
            <a:r>
              <a:rPr lang="en-US" sz="1300" b="1" dirty="0" err="1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Bersifat</a:t>
            </a: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Nasional (</a:t>
            </a:r>
            <a:r>
              <a:rPr lang="en-US" sz="1300" b="1" dirty="0" err="1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</a:t>
            </a: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Provinsi</a:t>
            </a: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Memburuk</a:t>
            </a: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3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548640" y="3794760"/>
          <a:ext cx="694944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Shape 13"/>
          <p:cNvSpPr/>
          <p:nvPr/>
        </p:nvSpPr>
        <p:spPr>
          <a:xfrm>
            <a:off x="7726680" y="3794760"/>
            <a:ext cx="3886200" cy="1143000"/>
          </a:xfrm>
          <a:prstGeom prst="roundRect">
            <a:avLst>
              <a:gd name="adj" fmla="val 64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909560" y="39776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90956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0" y="394106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Bahkan São Paulo naik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445312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4,7% ke 11,7% atas 2.971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Provinsi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paling stabil pun ikut terdampak.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726680" y="5029200"/>
            <a:ext cx="3886200" cy="1325880"/>
          </a:xfrm>
          <a:prstGeom prst="roundRect">
            <a:avLst>
              <a:gd name="adj" fmla="val 6154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909560" y="52120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909560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8412480" y="517550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pembelian tak berpengaruh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568756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telat berkisar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sempit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7,50% - 9,07% (Senin tertinggi, Minggu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terendah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terlalu kecil untuk dasar tindakan.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0" descr="assets/box_light.png">
            <a:extLst>
              <a:ext uri="{FF2B5EF4-FFF2-40B4-BE49-F238E27FC236}">
                <a16:creationId xmlns:a16="http://schemas.microsoft.com/office/drawing/2014/main" id="{76166B97-CB10-243C-AFD1-2FF740E8A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6134424"/>
            <a:ext cx="12192000" cy="12992424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Q5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 Ambang Batas Kesabaran Pelanggan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296084"/>
              </p:ext>
            </p:extLst>
          </p:nvPr>
        </p:nvGraphicFramePr>
        <p:xfrm>
          <a:off x="548640" y="1508760"/>
          <a:ext cx="6675120" cy="233172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Kondisi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Skor ulasan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Ulasan 1–2★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Tepat waktu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 1–3 hari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19,22%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 4–7 hari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61,29%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 8–15 hari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78,58%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 &gt;15 hari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526280"/>
            <a:ext cx="667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Titik patah antara hari ke-3 dan ke-7. </a:t>
            </a:r>
            <a:r>
              <a:rPr lang="en-US" sz="11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</a:t>
            </a: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buruk melompat 3× (19,22% → 61,29%). Setelah hari ke-8, </a:t>
            </a:r>
            <a:r>
              <a:rPr lang="en-US" sz="11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kerusakan</a:t>
            </a: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jenuh</a:t>
            </a: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Telat 10 hari &amp; 60 hari sama-sama ±78% ulasan buruk. Median keterlambatan Olist (5,81 hari) jatuh tepat di kelompok ini.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452360" y="1508760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0" y="161848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4.139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20574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 buruk aktual dari pesanan telat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452360" y="2560320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89520" y="267004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704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310896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 buruk wajar bila tepat waktu (9,19%)</a:t>
            </a:r>
            <a:endParaRPr lang="en-US" sz="1100" dirty="0"/>
          </a:p>
        </p:txBody>
      </p:sp>
      <p:sp>
        <p:nvSpPr>
          <p:cNvPr id="4" name="Shape 9"/>
          <p:cNvSpPr/>
          <p:nvPr/>
        </p:nvSpPr>
        <p:spPr>
          <a:xfrm>
            <a:off x="7452360" y="3611880"/>
            <a:ext cx="4160520" cy="1051560"/>
          </a:xfrm>
          <a:prstGeom prst="roundRect">
            <a:avLst>
              <a:gd name="adj" fmla="val 6957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89520" y="3721608"/>
            <a:ext cx="388620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3.435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424281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kecewa berlebih — akibat keterlambatan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452360" y="480060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BRL 1.123.857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pesanan terdampak (bukan kerugian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finansial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langsung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barang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tetap terkirim &amp; dibayar). Ini ukuran skala pendapatan yang berisiko terhadap kepercayaan pelanggan.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1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 0" descr="assets/box_light.png">
            <a:extLst>
              <a:ext uri="{FF2B5EF4-FFF2-40B4-BE49-F238E27FC236}">
                <a16:creationId xmlns:a16="http://schemas.microsoft.com/office/drawing/2014/main" id="{F8F6AF05-6A8F-12CE-683E-B42CFC3B9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72" y="2670048"/>
            <a:ext cx="11269656" cy="11269656"/>
          </a:xfrm>
          <a:prstGeom prst="rect">
            <a:avLst/>
          </a:prstGeom>
        </p:spPr>
      </p:pic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REKOMENDASI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Enam Langkah, Diurutkan dari Dampak Terbesar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737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671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Arahkan perbaikan ke jaringan kurir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5176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selisih waktu telat vs tepat waktu ada di transit. Pembinaan penjual hanya menyentuh 7%.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912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0" y="1737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1671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Ubah target: bukan nol, tapi ≤3 hari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65176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Kerusakan kepuasan melonjak di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3 - 7, jenuh setelah hari ke-8. Menarik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telat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 → 3 hari lebih murah dari mengejar ketepatan sempurna.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0" y="1737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1671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Tetapkan batas bawah selisih janji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65176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janji turun 66% dalam 20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Di 13,4 hari (Ags 2018) telat naik ke 10,39%. Perlu batas bawah agar janji tak lampaui kapasitas.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1788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Prioritaskan wilayah utara &amp; timur laut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66344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Maranhão, Ceará, Pará, Bahia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konsisten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terburuk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Maranhão hampir 4× Paraná.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8912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1788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Selidiki Rio de Janeiro terpisah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66344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13,52% telat padahal transit hanya 8,38 hari (12.310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Menunjuk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 rumus estimasi tanggal janji, bukan kecepatan kirim.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2960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41248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41788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Siapkan dua protokol musiman berbeda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466344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2017 =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kapasitas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Gudang, Feb – Mar 2018 = gangguan jaringan kurir. Satu protokol untuk keduanya akan meleset.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1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BATASAN ANALISIS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515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Cakupan data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34416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pesanan delivered dengan tanggal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terisi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Angka telat adalah batas bawah dari pengalaman buruk pelanggan.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389120" y="9601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0" y="10515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34416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berakhir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Ags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2018, tren perbaikan sejak Apr belum pasti bertahan.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229600" y="9601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0" y="10515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kerugian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134416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BRL 1.123.857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adalah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nilai pesanan terdampak, bukan kerugian finansial langsung.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19456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286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kepuasan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57860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646 pesanan tanpa ulasan dikeluarkan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Q5.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kecewa tanpa ulasan tak terwakili.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0" y="219456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0" y="2286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Ambang volume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257860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Peringkat provinsi pakai batas ≥500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Alagoas &amp; Piauí tak muncul meski lebih buruk.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29600" y="219456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2286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Sebab</a:t>
            </a: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akibat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57860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Penyebab gangguan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jaringan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Feb – Mar 2018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dipastikan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Tak ada data mitra kurir/rute/kejadian eksternal.</a:t>
            </a:r>
            <a:endParaRPr lang="en-US" sz="950" dirty="0"/>
          </a:p>
        </p:txBody>
      </p:sp>
      <p:pic>
        <p:nvPicPr>
          <p:cNvPr id="21" name="Image 0" descr="assets/box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429000"/>
            <a:ext cx="2286000" cy="228600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Keterlambatan Pengiriman Marketplace Olist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14400" y="62636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 — Operations Analyst · Jan 2017–Ags 2018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1828</Words>
  <Application>Microsoft Office PowerPoint</Application>
  <PresentationFormat>Widescreen</PresentationFormat>
  <Paragraphs>280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msi bravo</cp:lastModifiedBy>
  <cp:revision>20</cp:revision>
  <dcterms:created xsi:type="dcterms:W3CDTF">2026-09-04T08:07:30Z</dcterms:created>
  <dcterms:modified xsi:type="dcterms:W3CDTF">2026-09-04T09:09:45Z</dcterms:modified>
</cp:coreProperties>
</file>