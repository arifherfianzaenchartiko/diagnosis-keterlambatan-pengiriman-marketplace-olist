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i bravo" userId="161362f8529bc145" providerId="LiveId" clId="{63EF0039-CC50-4603-BAC1-0069894D0085}"/>
    <pc:docChg chg="undo custSel modSld">
      <pc:chgData name="msi bravo" userId="161362f8529bc145" providerId="LiveId" clId="{63EF0039-CC50-4603-BAC1-0069894D0085}" dt="2026-09-07T07:15:39.985" v="129" actId="478"/>
      <pc:docMkLst>
        <pc:docMk/>
      </pc:docMkLst>
      <pc:sldChg chg="addSp delSp modSp mod">
        <pc:chgData name="msi bravo" userId="161362f8529bc145" providerId="LiveId" clId="{63EF0039-CC50-4603-BAC1-0069894D0085}" dt="2026-09-07T07:15:10.713" v="127" actId="478"/>
        <pc:sldMkLst>
          <pc:docMk/>
          <pc:sldMk cId="0" sldId="257"/>
        </pc:sldMkLst>
        <pc:picChg chg="del mod">
          <ac:chgData name="msi bravo" userId="161362f8529bc145" providerId="LiveId" clId="{63EF0039-CC50-4603-BAC1-0069894D0085}" dt="2026-09-07T07:05:06.998" v="2" actId="478"/>
          <ac:picMkLst>
            <pc:docMk/>
            <pc:sldMk cId="0" sldId="257"/>
            <ac:picMk id="36" creationId="{10B19DFC-FDA9-153D-4463-3684674477D2}"/>
          </ac:picMkLst>
        </pc:picChg>
        <pc:picChg chg="add del mod ord">
          <ac:chgData name="msi bravo" userId="161362f8529bc145" providerId="LiveId" clId="{63EF0039-CC50-4603-BAC1-0069894D0085}" dt="2026-09-07T07:15:10.713" v="127" actId="478"/>
          <ac:picMkLst>
            <pc:docMk/>
            <pc:sldMk cId="0" sldId="257"/>
            <ac:picMk id="37" creationId="{9DCC67C9-1B49-C8C2-63DC-A92F6A0A7926}"/>
          </ac:picMkLst>
        </pc:picChg>
      </pc:sldChg>
      <pc:sldChg chg="addSp delSp modSp mod">
        <pc:chgData name="msi bravo" userId="161362f8529bc145" providerId="LiveId" clId="{63EF0039-CC50-4603-BAC1-0069894D0085}" dt="2026-09-07T07:15:06.882" v="126" actId="478"/>
        <pc:sldMkLst>
          <pc:docMk/>
          <pc:sldMk cId="0" sldId="258"/>
        </pc:sldMkLst>
        <pc:picChg chg="add del mod ord">
          <ac:chgData name="msi bravo" userId="161362f8529bc145" providerId="LiveId" clId="{63EF0039-CC50-4603-BAC1-0069894D0085}" dt="2026-09-07T07:15:06.882" v="126" actId="478"/>
          <ac:picMkLst>
            <pc:docMk/>
            <pc:sldMk cId="0" sldId="258"/>
            <ac:picMk id="10" creationId="{112BD6E9-EC95-68E6-246C-73247C98977B}"/>
          </ac:picMkLst>
        </pc:picChg>
        <pc:picChg chg="del">
          <ac:chgData name="msi bravo" userId="161362f8529bc145" providerId="LiveId" clId="{63EF0039-CC50-4603-BAC1-0069894D0085}" dt="2026-09-07T07:05:09.877" v="3" actId="478"/>
          <ac:picMkLst>
            <pc:docMk/>
            <pc:sldMk cId="0" sldId="258"/>
            <ac:picMk id="13" creationId="{9F7FB11D-46C7-A01C-2C88-DE275EA982D5}"/>
          </ac:picMkLst>
        </pc:picChg>
      </pc:sldChg>
      <pc:sldChg chg="addSp delSp modSp mod">
        <pc:chgData name="msi bravo" userId="161362f8529bc145" providerId="LiveId" clId="{63EF0039-CC50-4603-BAC1-0069894D0085}" dt="2026-09-07T07:14:59.639" v="125" actId="478"/>
        <pc:sldMkLst>
          <pc:docMk/>
          <pc:sldMk cId="0" sldId="259"/>
        </pc:sldMkLst>
        <pc:picChg chg="add del mod ord">
          <ac:chgData name="msi bravo" userId="161362f8529bc145" providerId="LiveId" clId="{63EF0039-CC50-4603-BAC1-0069894D0085}" dt="2026-09-07T07:09:58.834" v="106" actId="478"/>
          <ac:picMkLst>
            <pc:docMk/>
            <pc:sldMk cId="0" sldId="259"/>
            <ac:picMk id="19" creationId="{112856AA-64F7-3A3F-AE96-7964ECDB4197}"/>
          </ac:picMkLst>
        </pc:picChg>
        <pc:picChg chg="del">
          <ac:chgData name="msi bravo" userId="161362f8529bc145" providerId="LiveId" clId="{63EF0039-CC50-4603-BAC1-0069894D0085}" dt="2026-09-07T07:05:12.159" v="4" actId="478"/>
          <ac:picMkLst>
            <pc:docMk/>
            <pc:sldMk cId="0" sldId="259"/>
            <ac:picMk id="20" creationId="{E32853B0-6549-E1A7-3BA8-B814D502C662}"/>
          </ac:picMkLst>
        </pc:picChg>
        <pc:picChg chg="add del mod ord">
          <ac:chgData name="msi bravo" userId="161362f8529bc145" providerId="LiveId" clId="{63EF0039-CC50-4603-BAC1-0069894D0085}" dt="2026-09-07T07:14:59.639" v="125" actId="478"/>
          <ac:picMkLst>
            <pc:docMk/>
            <pc:sldMk cId="0" sldId="259"/>
            <ac:picMk id="22" creationId="{81FBD400-CE4A-75B8-57A2-B2397A8C68C3}"/>
          </ac:picMkLst>
        </pc:picChg>
      </pc:sldChg>
      <pc:sldChg chg="addSp delSp modSp mod">
        <pc:chgData name="msi bravo" userId="161362f8529bc145" providerId="LiveId" clId="{63EF0039-CC50-4603-BAC1-0069894D0085}" dt="2026-09-07T07:15:34.683" v="128" actId="478"/>
        <pc:sldMkLst>
          <pc:docMk/>
          <pc:sldMk cId="0" sldId="260"/>
        </pc:sldMkLst>
        <pc:picChg chg="add del mod">
          <ac:chgData name="msi bravo" userId="161362f8529bc145" providerId="LiveId" clId="{63EF0039-CC50-4603-BAC1-0069894D0085}" dt="2026-09-07T07:15:34.683" v="128" actId="478"/>
          <ac:picMkLst>
            <pc:docMk/>
            <pc:sldMk cId="0" sldId="260"/>
            <ac:picMk id="31" creationId="{DE5C0D47-002B-D5DC-2C7E-5AFBE9C7446A}"/>
          </ac:picMkLst>
        </pc:picChg>
      </pc:sldChg>
      <pc:sldChg chg="addSp delSp modSp mod">
        <pc:chgData name="msi bravo" userId="161362f8529bc145" providerId="LiveId" clId="{63EF0039-CC50-4603-BAC1-0069894D0085}" dt="2026-09-07T07:15:39.985" v="129" actId="478"/>
        <pc:sldMkLst>
          <pc:docMk/>
          <pc:sldMk cId="0" sldId="265"/>
        </pc:sldMkLst>
        <pc:picChg chg="add del mod">
          <ac:chgData name="msi bravo" userId="161362f8529bc145" providerId="LiveId" clId="{63EF0039-CC50-4603-BAC1-0069894D0085}" dt="2026-09-07T07:15:39.985" v="129" actId="478"/>
          <ac:picMkLst>
            <pc:docMk/>
            <pc:sldMk cId="0" sldId="265"/>
            <ac:picMk id="28" creationId="{13C941EE-064C-2849-6BF5-46A8CA4BDEFB}"/>
          </ac:picMkLst>
        </pc:picChg>
      </pc:sldChg>
      <pc:sldChg chg="delSp mod">
        <pc:chgData name="msi bravo" userId="161362f8529bc145" providerId="LiveId" clId="{63EF0039-CC50-4603-BAC1-0069894D0085}" dt="2026-09-07T07:14:52.552" v="124" actId="478"/>
        <pc:sldMkLst>
          <pc:docMk/>
          <pc:sldMk cId="0" sldId="266"/>
        </pc:sldMkLst>
        <pc:picChg chg="del">
          <ac:chgData name="msi bravo" userId="161362f8529bc145" providerId="LiveId" clId="{63EF0039-CC50-4603-BAC1-0069894D0085}" dt="2026-09-07T07:14:52.552" v="124" actId="478"/>
          <ac:picMkLst>
            <pc:docMk/>
            <pc:sldMk cId="0" sldId="266"/>
            <ac:picMk id="18" creationId="{76166B97-CB10-243C-AFD1-2FF740E8A003}"/>
          </ac:picMkLst>
        </pc:picChg>
      </pc:sldChg>
      <pc:sldChg chg="delSp mod">
        <pc:chgData name="msi bravo" userId="161362f8529bc145" providerId="LiveId" clId="{63EF0039-CC50-4603-BAC1-0069894D0085}" dt="2026-09-07T07:14:49.390" v="123" actId="478"/>
        <pc:sldMkLst>
          <pc:docMk/>
          <pc:sldMk cId="0" sldId="267"/>
        </pc:sldMkLst>
        <pc:picChg chg="del">
          <ac:chgData name="msi bravo" userId="161362f8529bc145" providerId="LiveId" clId="{63EF0039-CC50-4603-BAC1-0069894D0085}" dt="2026-09-07T07:14:49.390" v="123" actId="478"/>
          <ac:picMkLst>
            <pc:docMk/>
            <pc:sldMk cId="0" sldId="267"/>
            <ac:picMk id="30" creationId="{F8F6AF05-6A8F-12CE-683E-B42CFC3B9DA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Tingkat Telat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Jun 2018
(terbaik)</c:v>
                </c:pt>
                <c:pt idx="1">
                  <c:v>Bulan normal
(dasar)</c:v>
                </c:pt>
                <c:pt idx="2">
                  <c:v>Nov 2017</c:v>
                </c:pt>
                <c:pt idx="3">
                  <c:v>Feb 2018</c:v>
                </c:pt>
                <c:pt idx="4">
                  <c:v>Mar 2018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1.36</c:v>
                </c:pt>
                <c:pt idx="1">
                  <c:v>6</c:v>
                </c:pt>
                <c:pt idx="2">
                  <c:v>14.31</c:v>
                </c:pt>
                <c:pt idx="3">
                  <c:v>15.99</c:v>
                </c:pt>
                <c:pt idx="4">
                  <c:v>21.36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4B-4EFD-BCFE-DE1210D886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sz="1000" b="0" i="0" u="none" strike="noStrike">
                    <a:solidFill>
                      <a:srgbClr val="000000"/>
                    </a:solidFill>
                    <a:latin typeface="Arial"/>
                  </a:rPr>
                  <a:t>% telat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Kontribusi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Transit kurir</c:v>
                </c:pt>
                <c:pt idx="1">
                  <c:v>Gudang penjual</c:v>
                </c:pt>
                <c:pt idx="2">
                  <c:v>Efek median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7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1-431A-A2FE-3CA96B1C43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Kenaikan tingkat telat (poin)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pp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Espírito Santo</c:v>
                </c:pt>
                <c:pt idx="1">
                  <c:v>Bahia</c:v>
                </c:pt>
                <c:pt idx="2">
                  <c:v>Rio de Janeiro</c:v>
                </c:pt>
                <c:pt idx="3">
                  <c:v>Minas Gerais</c:v>
                </c:pt>
                <c:pt idx="4">
                  <c:v>São Paulo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29.7</c:v>
                </c:pt>
                <c:pt idx="1">
                  <c:v>17.7</c:v>
                </c:pt>
                <c:pt idx="2">
                  <c:v>17.600000000000001</c:v>
                </c:pt>
                <c:pt idx="3">
                  <c:v>17.5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41-4D50-B925-B2F688A406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078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ox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9144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429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OPERASIONAL · JAN 2017 – AGS 2018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7947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Keterlambatan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Pengiriman Marketplace Olist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Operations Analyst untuk Head of Logistics &amp; Fulfillment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OTD 91,87% Terlihat Sehat, Menyembunyikan 3 Masalah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94751" y="1653508"/>
            <a:ext cx="111381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96.184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dikirim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2017–Ags 2018)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98360" y="1645920"/>
            <a:ext cx="94844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7.822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tiba telat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(8,13% dari total)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7377" y="1610098"/>
            <a:ext cx="120136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91,87%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73281" y="1610098"/>
            <a:ext cx="144455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9,55 hari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762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keterlambatan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(terparah 188,98 hari)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telat, telatnya jauh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meleset beberapa jam. Rata-rata keterlambatan 9,55 hari, dengan kasus terparah mencapai 188,98 hari.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805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 di jalan, bukan gudang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dari selisih waktu telat vs tepat waktu terjadi di tahap transit kurir, hanya 7% di gudang penjual. Pembinaan penjual tidak menyentuh akar masalah.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 lebih cepat dari dugaan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ulasan jatuh dari 4,30 ke 2,57 saat telat. Titik patah di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ke-3-7.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buruk melonjak dari 19,22% ke 61,29%.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C1B1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en-US" sz="1250" b="1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</a:t>
            </a:r>
            <a:r>
              <a:rPr lang="en-US" sz="12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 </a:t>
            </a: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"nol keterlambatan", melainkan "jangan telat lebih dari 3 </a:t>
            </a:r>
            <a:r>
              <a:rPr lang="en-US" sz="125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 3.435 pelanggan kecewa berlebih, melekat pada pesanan senilai BRL 1.123.857</a:t>
            </a:r>
            <a:endParaRPr lang="en-US" sz="1250" dirty="0"/>
          </a:p>
        </p:txBody>
      </p:sp>
      <p:pic>
        <p:nvPicPr>
          <p:cNvPr id="33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PERTANYAAN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Pertanyaan, </a:t>
            </a:r>
            <a:r>
              <a:rPr lang="en-US" sz="2700" b="1" dirty="0" err="1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Disusun</a:t>
            </a: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Mengerucut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adalah marketplace yang menghubungkan penjual kecil di Brasil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Pengiriman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ditangani mitra kurir. Setiap pesanan membawa tanggal janji tiba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checkout. Telat berarti tanggal terima aktual melewati tanggal janji tersebut.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403792"/>
              </p:ext>
            </p:extLst>
          </p:nvPr>
        </p:nvGraphicFramePr>
        <p:xfrm>
          <a:off x="548640" y="2423160"/>
          <a:ext cx="11064240" cy="32918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Pertanyaan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Seberapa parah keterlambatannya? Persen pesanan telat, seberapa lama, kapan memburuk.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tahap mana keterlambatan terjadi? Gudang penjual atau pengiriman kurir.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Siapa/apa penyumbang terbesarnya? Penjual, wilayah tujuan, atau jenis produk.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risikonya memuncak? Pola musiman dan penyebab </a:t>
                      </a:r>
                      <a:r>
                        <a:rPr lang="en-US" sz="13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krisis</a:t>
                      </a: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Feb - Mar 2018.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Berapa kerugiannya? Dampak keterlambatan terhadap kepuasan pelanggan.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</a:t>
            </a:r>
            <a:r>
              <a:rPr lang="en-US" sz="12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</a:t>
            </a: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mengerucut</a:t>
            </a: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mengukur besar masalah → tahap &amp; pelaku → nilai kerugian.</a:t>
            </a:r>
            <a:endParaRPr lang="en-US" sz="1200" dirty="0"/>
          </a:p>
        </p:txBody>
      </p:sp>
      <p:pic>
        <p:nvPicPr>
          <p:cNvPr id="7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Waktu Tempuh Dipecah Jadi Dua Ruas yang Tidak Tumpang Tindih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49749"/>
              </p:ext>
            </p:extLst>
          </p:nvPr>
        </p:nvGraphicFramePr>
        <p:xfrm>
          <a:off x="548640" y="1554480"/>
          <a:ext cx="5394960" cy="3017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view analytics.fact_order_delivery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analisis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96.184 pesanan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Jan 2017 - 31 Ags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Cakupan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status delivered, tanggal terima terisi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Dikecualikan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pesanan dgn urutan tanggal mustahil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Python, Excel (</a:t>
                      </a:r>
                      <a:r>
                        <a:rPr lang="en-US" sz="11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identik</a:t>
                      </a: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21792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1700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kurir (porsi penjual)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serah ke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kurir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tanggal pembelian. Waktu menyiapkan dan menyerahkan barang.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32918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32552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(porsi kurir)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7673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terima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tanggal serah ke kurir. Waktu jaringan pengiriman.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pesanan tercatat diterima pelanggan lebih dulu daripada diserahkan ke kurir — mustahil secara fisik. Pesanan ini ditandai has_sequence_anomaly dan dikeluarkan dari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kebetulan berstatus tepat waktu, sehingga jumlah pesanan telat tidak berubah.
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dan median dilaporkan bersama 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sebaran keterlambatan sangat miring. Rata-rata untuk menaksir beban total, median untuk pengalaman pelanggan pada umumnya.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Q1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Sekali Telat, Melesetnya Jauh Melebihi Sekadar Terlambat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9,55 hari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keterlambatan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5,81 hari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keterlambatan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188,98 hari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terparah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544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10,21 hari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kirim normal (pembanding)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3,74 hari antara rata-rata dan median menunjukkan </a:t>
            </a:r>
            <a:r>
              <a:rPr lang="en-US" sz="12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</a:t>
            </a: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miring. </a:t>
            </a:r>
            <a:r>
              <a:rPr lang="en-US" sz="12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Separuh</a:t>
            </a: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pesanan telat meleset ≤5,81 hari, sementara segelintir kasus ekstrem menarik rata-rata jauh ke atas.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Keterlambatan per Bulan - Bulan Terpilih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48640" y="3611880"/>
          <a:ext cx="6949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7726680" y="3611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09560" y="37947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095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37581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— musim puncak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4270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naik 63% (4.478 → 7.288 pesanan). Pola khas Black Friday menekan kapasitas gudang.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726680" y="493776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09560" y="5120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9095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412480" y="5084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Feb–Mar 2018 — bukan kapasitas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55961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pada volume normal, namun lebih parah dari Nov 2017. Penyebabnya harus dicari di tempat lain (lihat Q2).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Q2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 Selisih Waktu Terjadi di Transit Kurir, Bukan di Gudang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1965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kurir (penjual)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(kurir)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9,71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29,15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429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angka pada tiap baris adalah median terpisah, bukan penjumlahan — median dari total ≠ total dari median.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600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terhadap Selisih 19,44 Hari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818120" y="1965960"/>
          <a:ext cx="37947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1605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C1B1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keterlambatan terjadi di tahap pengiriman kurir. </a:t>
            </a: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penjual ikut melambat pada pesanan telat, tapi kontribusinya kecil (7%) dan tidak menjelaskan besarnya masalah. Perbaikan sejak Apr 2018 membuktikan masalah ini dapat diselesaikan.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Q2 (LANJUTAN)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Krisis, Dua Penyebab Berbeda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 tingkat dasar 2,2 hari (ke kurir) dan 7,0 hari (transit):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697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memburuk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 hari (+44%)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Gudang penjual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11,02 hari (+57%)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Pengiriman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 hari (normal)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9,88 hari (+41%)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Pengiriman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Ags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Keduanya membaik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49834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73152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4946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— Kapasitas Gudang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58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kurir melonjak +44% saat volume musim puncak naik 63%. Ini masalah kapasitas gudang penjual.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48006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49834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F/M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4946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Feb–Mar 2018 — Jaringan Kurir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5458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melonjak +57% dan +41% pada volume normal. Ini masalah jaringan pengiriman kurir, bukan kapasitas.</a:t>
            </a:r>
            <a:endParaRPr lang="en-US" sz="1150" dirty="0"/>
          </a:p>
        </p:txBody>
      </p:sp>
      <p:pic>
        <p:nvPicPr>
          <p:cNvPr id="16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Q3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Penjual Bukan Akar Masalahnya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2.943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aktif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kirim pesanan telat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64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disumbang 20 penjual teratas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798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Konsentrasi ini menyesatkan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10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penjual teratas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1.000 - 1.800 pesanan masing-masing dengan tingkat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10 - 11%. Hanya sedikit di atas rata-rata keseluruhan 8,13%. Mereka muncul di puncak daftar karena volume besar, bukan kinerja buruk.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798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bermasalah justru tak terlihat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310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Bervolume kecil dan tidak muncul di daftar teratas.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389 pesanan dengan 23,14%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380 pesanan dengan 16,58% telat.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dampak pembinaan penjual ke angka keseluruhan akan kecil.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C1B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Implikasi: 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pembinaan penjual akan berdampak kecil terhadap angka keseluruhan. Akar masalah ada di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lain.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wilayah tujuan berikut.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Q3 (LANJUTAN)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Wilayah Tujuan Adalah Akar Masalahnya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55690"/>
              </p:ext>
            </p:extLst>
          </p:nvPr>
        </p:nvGraphicFramePr>
        <p:xfrm>
          <a:off x="548640" y="1554480"/>
          <a:ext cx="6675120" cy="24688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transit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Maranhão (MA)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15,68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 (PA)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17,30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Paulo (SP)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4,42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Paraná (PR)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7,18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antarprovinsi 3,9× (Maranhão vs Paraná). Provinsi utara &amp; timur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yaitu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Maranhão, Ceará, Pará, Bahia konsisten terburuk. São Paulo menyerap 42% volume (40.386 pesanan) dengan kinerja terbaik kedua.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160520" cy="2423160"/>
          </a:xfrm>
          <a:prstGeom prst="roundRect">
            <a:avLst>
              <a:gd name="adj" fmla="val 30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7373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35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RJ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7007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Pengecualian: Rio de Janeiro</a:t>
            </a:r>
            <a:endParaRPr lang="en-US" sz="1400" dirty="0"/>
          </a:p>
        </p:txBody>
      </p:sp>
      <p:sp>
        <p:nvSpPr>
          <p:cNvPr id="4" name="Text 7"/>
          <p:cNvSpPr txBox="1"/>
          <p:nvPr/>
        </p:nvSpPr>
        <p:spPr>
          <a:xfrm>
            <a:off x="7726680" y="2212848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13,52% keterlambatan padahal transit hanya 8,38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jauh lebih cepat dari Maranhão/Pará. Volume 12.310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kasus kecil. Dugaan paling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akal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tanggal janji terlalu optimis, bukan soal jarak/jaringan.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114800"/>
            <a:ext cx="4160520" cy="1325880"/>
          </a:xfrm>
          <a:prstGeom prst="roundRect">
            <a:avLst>
              <a:gd name="adj" fmla="val 5926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42976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352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2611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produk bukan faktor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7731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telat antarkategori produk tidak menunjukkan pola yang cukup kuat untuk ditindaklanjuti, termasuk setelah berat produk diperhitungkan.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peringkat di atas dibatasi provinsi ≥500 pesanan. Tanpa batas ini, dasbor menampilkan puncak berbeda: Alagoas 23,99% (396 pesanan) &amp; Piauí 16,00% (475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benar, menjawab pertanyaan berbeda.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Q4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Janji Makin Ketat, Krisis Maret Bersifat Nasional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39,0 → 13,4 hari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janji pengiriman, Jan 2017–Ags 2018 (turun 66%)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terbaik, Jun 2018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10,39%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 naik lagi, Ags 2018 (janji di titik terketat)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06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Peringatan: pada Ags 2018 selisih janji di titik terendah (13,4 hari) dan keterlambatan naik kembali. Pola serupa terjadi Mar 2018, janji diperketat (24,3 → 21,3 hari)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</a:t>
            </a: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200" dirty="0">
              <a:solidFill>
                <a:srgbClr val="4A40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</a:t>
            </a: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pengiriman berlangsung, memperparah bulan itu.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Krisis Maret 2018 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</a:t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Nasional (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</a:t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Provinsi</a:t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Memburuk</a:t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48640" y="3794760"/>
          <a:ext cx="69494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7726680" y="379476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3977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9095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3941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Bahkan São Paulo naik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4453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4,7% ke 11,7% atas 2.971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Provinsi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paling stabil pun ikut terdampak.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26680" y="5029200"/>
            <a:ext cx="3886200" cy="1325880"/>
          </a:xfrm>
          <a:prstGeom prst="roundRect">
            <a:avLst>
              <a:gd name="adj" fmla="val 6154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09560" y="52120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90956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5175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pembelian tak berpengaruh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5687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telat berkisar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sempit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7,50% - 9,07% (Senin tertinggi, Minggu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terendah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terlalu kecil untuk dasar tindakan.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Q5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 Ambang Batas Kesabaran Pelanggan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296084"/>
              </p:ext>
            </p:extLst>
          </p:nvPr>
        </p:nvGraphicFramePr>
        <p:xfrm>
          <a:off x="548640" y="1508760"/>
          <a:ext cx="6675120" cy="23317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Kondisi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ulasan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Ulasan 1–2★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1–3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4–7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8–15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78,58%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&gt;15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patah antara hari ke-3 dan ke-7.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buruk melompat 3× (19,22% → 61,29%). Setelah hari ke-8,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jenuh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Telat 10 hari &amp; 60 hari sama-sama ±78% ulasan buruk. Median keterlambatan Olist (5,81 hari) jatuh tepat di kelompok ini.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52360" y="15087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1618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4.139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057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buruk aktual dari pesanan telat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52360" y="25603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26700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704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buruk wajar bila tepat waktu (9,19%)</a:t>
            </a:r>
            <a:endParaRPr lang="en-US" sz="1100" dirty="0"/>
          </a:p>
        </p:txBody>
      </p:sp>
      <p:sp>
        <p:nvSpPr>
          <p:cNvPr id="4" name="Shape 9"/>
          <p:cNvSpPr/>
          <p:nvPr/>
        </p:nvSpPr>
        <p:spPr>
          <a:xfrm>
            <a:off x="7452360" y="36118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3721608"/>
            <a:ext cx="3886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3.435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2428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kecewa berlebih — akibat keterlambatan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4800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1.123.857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pesanan terdampak (bukan kerugian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finansial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tetap terkirim &amp; dibayar). Ini ukuran skala pendapatan yang berisiko terhadap kepercayaan pelanggan.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Langkah, Diurutkan dari Dampak Terbesar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perbaikan ke jaringan kurir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selisih waktu telat vs tepat waktu ada di transit. Pembinaan penjual hanya menyentuh 7%.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target: bukan nol, tapi ≤3 hari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 kepuasan melonjak di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3 - 7, jenuh setelah hari ke-8. Menarik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→ 3 hari lebih murah dari mengejar ketepatan sempurna.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batas bawah selisih janji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janji turun 66% dalam 20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 13,4 hari (Ags 2018) telat naik ke 10,39%. Perlu batas bawah agar janji tak lampaui kapasitas.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wilayah utara &amp; timur laut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Maranhão, Ceará, Pará, Bahia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terburuk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Maranhão hampir 4× Paraná.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Selidiki Rio de Janeiro terpisah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13,52% telat padahal transit hanya 8,38 hari (12.310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 rumus estimasi tanggal janji, bukan kecepatan kirim.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dua protokol musiman berbeda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=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Gudang, Feb – Mar 2018 = gangguan jaringan kurir. Satu protokol untuk keduanya akan meleset.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ANALISIS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pesanan delivered dengan tanggal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terisi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Angka telat adalah batas bawah dari pengalaman buruk pelanggan.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8912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berakhir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2018, tren perbaikan sejak Apr belum pasti bertahan.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kerugian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1.123.857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nilai pesanan terdampak, bukan kerugian finansial langsung.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kepuasan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 pesanan tanpa ulasan dikeluarkan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Q5.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kecewa tanpa ulasan tak terwakili.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volume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provinsi pakai batas ≥500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Alagoas &amp; Piauí tak muncul meski lebih buruk.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Sebab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 gangguan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Feb – Mar 2018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dipastikan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Tak ada data mitra kurir/rute/kejadian eksternal.</a:t>
            </a:r>
            <a:endParaRPr lang="en-US" sz="950" dirty="0"/>
          </a:p>
        </p:txBody>
      </p:sp>
      <p:pic>
        <p:nvPicPr>
          <p:cNvPr id="21" name="Image 0" descr="assets/box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29000"/>
            <a:ext cx="2286000" cy="22860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Keterlambatan Pengiriman Marketplace Olist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Operations Analyst · Jan 2017–Ags 2018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1828</Words>
  <Application>Microsoft Office PowerPoint</Application>
  <PresentationFormat>Widescreen</PresentationFormat>
  <Paragraphs>280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msi bravo</cp:lastModifiedBy>
  <cp:revision>20</cp:revision>
  <dcterms:created xsi:type="dcterms:W3CDTF">2026-09-04T08:07:30Z</dcterms:created>
  <dcterms:modified xsi:type="dcterms:W3CDTF">2026-09-07T07:15:43Z</dcterms:modified>
</cp:coreProperties>
</file>