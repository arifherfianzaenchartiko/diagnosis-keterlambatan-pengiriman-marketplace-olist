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79" d="100"/>
          <a:sy n="79" d="100"/>
        </p:scale>
        <p:origin x="744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si bravo" userId="161362f8529bc145" providerId="LiveId" clId="{63EF0039-CC50-4603-BAC1-0069894D0085}"/>
    <pc:docChg chg="undo custSel modSld">
      <pc:chgData name="msi bravo" userId="161362f8529bc145" providerId="LiveId" clId="{63EF0039-CC50-4603-BAC1-0069894D0085}" dt="2026-09-07T07:15:39.985" v="129" actId="478"/>
      <pc:docMkLst>
        <pc:docMk/>
      </pc:docMkLst>
      <pc:sldChg chg="addSp delSp modSp mod">
        <pc:chgData name="msi bravo" userId="161362f8529bc145" providerId="LiveId" clId="{63EF0039-CC50-4603-BAC1-0069894D0085}" dt="2026-09-07T07:15:10.713" v="127" actId="478"/>
        <pc:sldMkLst>
          <pc:docMk/>
          <pc:sldMk cId="0" sldId="257"/>
        </pc:sldMkLst>
        <pc:picChg chg="del mod">
          <ac:chgData name="msi bravo" userId="161362f8529bc145" providerId="LiveId" clId="{63EF0039-CC50-4603-BAC1-0069894D0085}" dt="2026-09-07T07:05:06.998" v="2" actId="478"/>
          <ac:picMkLst>
            <pc:docMk/>
            <pc:sldMk cId="0" sldId="257"/>
            <ac:picMk id="36" creationId="{10B19DFC-FDA9-153D-4463-3684674477D2}"/>
          </ac:picMkLst>
        </pc:picChg>
        <pc:picChg chg="add del mod ord">
          <ac:chgData name="msi bravo" userId="161362f8529bc145" providerId="LiveId" clId="{63EF0039-CC50-4603-BAC1-0069894D0085}" dt="2026-09-07T07:15:10.713" v="127" actId="478"/>
          <ac:picMkLst>
            <pc:docMk/>
            <pc:sldMk cId="0" sldId="257"/>
            <ac:picMk id="37" creationId="{9DCC67C9-1B49-C8C2-63DC-A92F6A0A7926}"/>
          </ac:picMkLst>
        </pc:picChg>
      </pc:sldChg>
      <pc:sldChg chg="addSp delSp modSp mod">
        <pc:chgData name="msi bravo" userId="161362f8529bc145" providerId="LiveId" clId="{63EF0039-CC50-4603-BAC1-0069894D0085}" dt="2026-09-07T07:15:06.882" v="126" actId="478"/>
        <pc:sldMkLst>
          <pc:docMk/>
          <pc:sldMk cId="0" sldId="258"/>
        </pc:sldMkLst>
        <pc:picChg chg="add del mod ord">
          <ac:chgData name="msi bravo" userId="161362f8529bc145" providerId="LiveId" clId="{63EF0039-CC50-4603-BAC1-0069894D0085}" dt="2026-09-07T07:15:06.882" v="126" actId="478"/>
          <ac:picMkLst>
            <pc:docMk/>
            <pc:sldMk cId="0" sldId="258"/>
            <ac:picMk id="10" creationId="{112BD6E9-EC95-68E6-246C-73247C98977B}"/>
          </ac:picMkLst>
        </pc:picChg>
        <pc:picChg chg="del">
          <ac:chgData name="msi bravo" userId="161362f8529bc145" providerId="LiveId" clId="{63EF0039-CC50-4603-BAC1-0069894D0085}" dt="2026-09-07T07:05:09.877" v="3" actId="478"/>
          <ac:picMkLst>
            <pc:docMk/>
            <pc:sldMk cId="0" sldId="258"/>
            <ac:picMk id="13" creationId="{9F7FB11D-46C7-A01C-2C88-DE275EA982D5}"/>
          </ac:picMkLst>
        </pc:picChg>
      </pc:sldChg>
      <pc:sldChg chg="addSp delSp modSp mod">
        <pc:chgData name="msi bravo" userId="161362f8529bc145" providerId="LiveId" clId="{63EF0039-CC50-4603-BAC1-0069894D0085}" dt="2026-09-07T07:14:59.639" v="125" actId="478"/>
        <pc:sldMkLst>
          <pc:docMk/>
          <pc:sldMk cId="0" sldId="259"/>
        </pc:sldMkLst>
        <pc:picChg chg="add del mod ord">
          <ac:chgData name="msi bravo" userId="161362f8529bc145" providerId="LiveId" clId="{63EF0039-CC50-4603-BAC1-0069894D0085}" dt="2026-09-07T07:09:58.834" v="106" actId="478"/>
          <ac:picMkLst>
            <pc:docMk/>
            <pc:sldMk cId="0" sldId="259"/>
            <ac:picMk id="19" creationId="{112856AA-64F7-3A3F-AE96-7964ECDB4197}"/>
          </ac:picMkLst>
        </pc:picChg>
        <pc:picChg chg="del">
          <ac:chgData name="msi bravo" userId="161362f8529bc145" providerId="LiveId" clId="{63EF0039-CC50-4603-BAC1-0069894D0085}" dt="2026-09-07T07:05:12.159" v="4" actId="478"/>
          <ac:picMkLst>
            <pc:docMk/>
            <pc:sldMk cId="0" sldId="259"/>
            <ac:picMk id="20" creationId="{E32853B0-6549-E1A7-3BA8-B814D502C662}"/>
          </ac:picMkLst>
        </pc:picChg>
        <pc:picChg chg="add del mod ord">
          <ac:chgData name="msi bravo" userId="161362f8529bc145" providerId="LiveId" clId="{63EF0039-CC50-4603-BAC1-0069894D0085}" dt="2026-09-07T07:14:59.639" v="125" actId="478"/>
          <ac:picMkLst>
            <pc:docMk/>
            <pc:sldMk cId="0" sldId="259"/>
            <ac:picMk id="22" creationId="{81FBD400-CE4A-75B8-57A2-B2397A8C68C3}"/>
          </ac:picMkLst>
        </pc:picChg>
      </pc:sldChg>
      <pc:sldChg chg="addSp delSp modSp mod">
        <pc:chgData name="msi bravo" userId="161362f8529bc145" providerId="LiveId" clId="{63EF0039-CC50-4603-BAC1-0069894D0085}" dt="2026-09-07T07:15:34.683" v="128" actId="478"/>
        <pc:sldMkLst>
          <pc:docMk/>
          <pc:sldMk cId="0" sldId="260"/>
        </pc:sldMkLst>
        <pc:picChg chg="add del mod">
          <ac:chgData name="msi bravo" userId="161362f8529bc145" providerId="LiveId" clId="{63EF0039-CC50-4603-BAC1-0069894D0085}" dt="2026-09-07T07:15:34.683" v="128" actId="478"/>
          <ac:picMkLst>
            <pc:docMk/>
            <pc:sldMk cId="0" sldId="260"/>
            <ac:picMk id="31" creationId="{DE5C0D47-002B-D5DC-2C7E-5AFBE9C7446A}"/>
          </ac:picMkLst>
        </pc:picChg>
      </pc:sldChg>
      <pc:sldChg chg="addSp delSp modSp mod">
        <pc:chgData name="msi bravo" userId="161362f8529bc145" providerId="LiveId" clId="{63EF0039-CC50-4603-BAC1-0069894D0085}" dt="2026-09-07T07:15:39.985" v="129" actId="478"/>
        <pc:sldMkLst>
          <pc:docMk/>
          <pc:sldMk cId="0" sldId="265"/>
        </pc:sldMkLst>
        <pc:picChg chg="add del mod">
          <ac:chgData name="msi bravo" userId="161362f8529bc145" providerId="LiveId" clId="{63EF0039-CC50-4603-BAC1-0069894D0085}" dt="2026-09-07T07:15:39.985" v="129" actId="478"/>
          <ac:picMkLst>
            <pc:docMk/>
            <pc:sldMk cId="0" sldId="265"/>
            <ac:picMk id="28" creationId="{13C941EE-064C-2849-6BF5-46A8CA4BDEFB}"/>
          </ac:picMkLst>
        </pc:picChg>
      </pc:sldChg>
      <pc:sldChg chg="delSp mod">
        <pc:chgData name="msi bravo" userId="161362f8529bc145" providerId="LiveId" clId="{63EF0039-CC50-4603-BAC1-0069894D0085}" dt="2026-09-07T07:14:52.552" v="124" actId="478"/>
        <pc:sldMkLst>
          <pc:docMk/>
          <pc:sldMk cId="0" sldId="266"/>
        </pc:sldMkLst>
        <pc:picChg chg="del">
          <ac:chgData name="msi bravo" userId="161362f8529bc145" providerId="LiveId" clId="{63EF0039-CC50-4603-BAC1-0069894D0085}" dt="2026-09-07T07:14:52.552" v="124" actId="478"/>
          <ac:picMkLst>
            <pc:docMk/>
            <pc:sldMk cId="0" sldId="266"/>
            <ac:picMk id="18" creationId="{76166B97-CB10-243C-AFD1-2FF740E8A003}"/>
          </ac:picMkLst>
        </pc:picChg>
      </pc:sldChg>
      <pc:sldChg chg="delSp mod">
        <pc:chgData name="msi bravo" userId="161362f8529bc145" providerId="LiveId" clId="{63EF0039-CC50-4603-BAC1-0069894D0085}" dt="2026-09-07T07:14:49.390" v="123" actId="478"/>
        <pc:sldMkLst>
          <pc:docMk/>
          <pc:sldMk cId="0" sldId="267"/>
        </pc:sldMkLst>
        <pc:picChg chg="del">
          <ac:chgData name="msi bravo" userId="161362f8529bc145" providerId="LiveId" clId="{63EF0039-CC50-4603-BAC1-0069894D0085}" dt="2026-09-07T07:14:49.390" v="123" actId="478"/>
          <ac:picMkLst>
            <pc:docMk/>
            <pc:sldMk cId="0" sldId="267"/>
            <ac:picMk id="30" creationId="{F8F6AF05-6A8F-12CE-683E-B42CFC3B9DA3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Tingkat Telat (%)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.0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Jun 2018
(terbaik)</c:v>
                </c:pt>
                <c:pt idx="1">
                  <c:v>Bulan normal
(dasar)</c:v>
                </c:pt>
                <c:pt idx="2">
                  <c:v>Nov 2017</c:v>
                </c:pt>
                <c:pt idx="3">
                  <c:v>Feb 2018</c:v>
                </c:pt>
                <c:pt idx="4">
                  <c:v>Mar 2018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1.36</c:v>
                </c:pt>
                <c:pt idx="1">
                  <c:v>6</c:v>
                </c:pt>
                <c:pt idx="2">
                  <c:v>14.31</c:v>
                </c:pt>
                <c:pt idx="3">
                  <c:v>15.99</c:v>
                </c:pt>
                <c:pt idx="4">
                  <c:v>21.36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34B-4EFD-BCFE-DE1210D88625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3DDD0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lang="en-ID" sz="1000" b="0" i="0" u="none" strike="noStrike">
                    <a:solidFill>
                      <a:srgbClr val="000000"/>
                    </a:solidFill>
                    <a:latin typeface="Arial"/>
                  </a:rPr>
                  <a:t>% telat</a:t>
                </a:r>
              </a:p>
            </c:rich>
          </c:tx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Kontribusi</c:v>
                </c:pt>
              </c:strCache>
            </c:strRef>
          </c:tx>
          <c:spPr>
            <a:solidFill>
              <a:srgbClr val="B85042"/>
            </a:solidFill>
            <a:effectLst/>
          </c:spPr>
          <c:invertIfNegative val="0"/>
          <c:dLbls>
            <c:numFmt formatCode="0&quot;%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Transit kurir</c:v>
                </c:pt>
                <c:pt idx="1">
                  <c:v>Gudang penjual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86.0</c:v>
                </c:pt>
                <c:pt idx="1">
                  <c:v>14.0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BA1-431A-A2FE-3CA96B1C43BF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Kenaikan tingkat telat (poin)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0.0&quot;pp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50" b="0" i="0" u="none" strike="noStrike">
                    <a:solidFill>
                      <a:srgbClr val="2C1B12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Espírito Santo</c:v>
                </c:pt>
                <c:pt idx="1">
                  <c:v>Rio de Janeiro</c:v>
                </c:pt>
                <c:pt idx="2">
                  <c:v>Minas Gerais</c:v>
                </c:pt>
                <c:pt idx="3">
                  <c:v>Bahia</c:v>
                </c:pt>
                <c:pt idx="4">
                  <c:v>São Paulo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30.4</c:v>
                </c:pt>
                <c:pt idx="1">
                  <c:v>26.5</c:v>
                </c:pt>
                <c:pt idx="2">
                  <c:v>19.8</c:v>
                </c:pt>
                <c:pt idx="3">
                  <c:v>19.5</c:v>
                </c:pt>
                <c:pt idx="4">
                  <c:v>8.7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B41-4D50-B925-B2F688A406A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2C1B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550782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914400"/>
            <a:ext cx="2286000" cy="2286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0" y="3429000"/>
            <a:ext cx="1216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OPERASIONAL · JAN 2017 – AGS 2018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914400" y="3794760"/>
            <a:ext cx="10332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</a:t>
            </a:r>
            <a:endParaRPr lang="en-US" sz="4000" dirty="0"/>
          </a:p>
          <a:p>
            <a:pPr marL="0" indent="0" algn="ctr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Pengiriman Marketplace Olist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914400" y="548640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Disusun oleh Arif Herfian Zaen Chartiko (Analis Operasional) untuk Kepala Divisi Logistik &amp; Pemenuhan Pesanan</a:t>
            </a:r>
            <a:endParaRPr lang="en-US" sz="14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RINGKASAN EKSEKUTIF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OTD 91,87% Terlihat Sehat, Menyembunyikan 3 Masalah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1294751" y="1653508"/>
            <a:ext cx="111381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96.184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dikirim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(Jan 2017–Ags 2018)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198360" y="1645920"/>
            <a:ext cx="94844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7.822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 tiba telat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(8,13% dari total)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600200"/>
            <a:ext cx="26060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737377" y="1610098"/>
            <a:ext cx="1201366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91,87%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76272"/>
            <a:ext cx="2331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ketepatan waktu (OTD)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600200"/>
            <a:ext cx="2834640" cy="960120"/>
          </a:xfrm>
          <a:prstGeom prst="roundRect">
            <a:avLst>
              <a:gd name="adj" fmla="val 76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9473281" y="1610098"/>
            <a:ext cx="1444557" cy="5280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7627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(terparah 188,98 hari)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73152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3152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Sekali telat, telatnya jauh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meleset beberapa jam. Rata-rata keterlambatan 9,55 hari, dengan kasus terparah mencapai 188,98 hari.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29768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48056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448056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498348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Masalahnya di jalan, bukan gudang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dari selisih waktu telat vs tepat waktu terjadi di tahap transit kurir, hanya 14% di gudang penjual. Pembinaan penjual tidak menyentuh akar masalah.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8046720" y="2788920"/>
            <a:ext cx="3566160" cy="1920240"/>
          </a:xfrm>
          <a:prstGeom prst="roundRect">
            <a:avLst>
              <a:gd name="adj" fmla="val 381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8229600" y="297180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8229600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8732520" y="2935224"/>
            <a:ext cx="2697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lebih cepat dari dugaan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321040" y="3447288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Skor ulasan jatuh dari 4,30 ke 2,57 saat telat. Titik patah di telat 4–7 hari.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melonjak dari 19,22% ke 61,25%.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</a:t>
            </a:r>
            <a:r>
              <a:rPr lang="en-US" sz="1250" b="1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strategis</a:t>
            </a:r>
            <a:r>
              <a:rPr lang="en-US" sz="125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bukan "nol keterlambatan", melainkan "jangan telat lebih dari 3 </a:t>
            </a:r>
            <a:r>
              <a:rPr lang="en-US" sz="1250" dirty="0" err="1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</a:t>
            </a:r>
            <a:r>
              <a:rPr lang="en-US" sz="1250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Dampak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</a:t>
            </a:r>
            <a:r>
              <a:rPr lang="en-US" sz="12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	: 3.435 pelanggan kecewa berlebih, melekat pada pesanan senilai BRL 1.124.036</a:t>
            </a:r>
            <a:endParaRPr lang="en-US" sz="1250" dirty="0"/>
          </a:p>
        </p:txBody>
      </p:sp>
      <p:pic>
        <p:nvPicPr>
          <p:cNvPr id="33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34" name="Text 31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LATAR BELAKANG &amp; PERTANYAAN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Lima Pertanyaan,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Disusun</a:t>
            </a: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</a:t>
            </a:r>
            <a:r>
              <a:rPr lang="en-US" sz="2700" b="1" dirty="0" err="1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Mengerucut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08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Olist adalah marketplace yang menghubungkan penjual kecil di Brasil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dengan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pembeli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Pengiriman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ditangani mitra kurir. Setiap pesanan membawa tanggal janji tiba </a:t>
            </a:r>
            <a:r>
              <a:rPr lang="en-US" sz="13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 transaksi</a:t>
            </a:r>
            <a:r>
              <a:rPr lang="en-US" sz="13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berarti tanggal terima aktual melewati tanggal janji tersebut.</a:t>
            </a:r>
            <a:endParaRPr lang="en-US" sz="13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1403792"/>
              </p:ext>
            </p:extLst>
          </p:nvPr>
        </p:nvGraphicFramePr>
        <p:xfrm>
          <a:off x="548640" y="2423160"/>
          <a:ext cx="11064240" cy="329184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49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Pertanyaan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Seberapa parah keterlambatannya? Persen pesanan telat, seberapa lama, kapan memburuk.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 tahap mana keterlambatan terjadi? Gudang penjual atau pengiriman kurir.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Siapa/apa penyumbang terbesarnya? Penjual, wilayah tujuan, atau jenis produk.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Kapan risikonya memuncak? Pola musiman dan penyebab </a:t>
                      </a:r>
                      <a:r>
                        <a:rPr lang="en-US" sz="13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krisis</a:t>
                      </a: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Feb - Mar 2018.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Berapa kerugiannya? Dampak keterlambatan terhadap kepuasan pelanggan.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61722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Urutan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dibuat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i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mengerucut</a:t>
            </a:r>
            <a:r>
              <a:rPr lang="en-US" sz="12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mengukur besar masalah → tahap &amp; pelaku → nilai kerugian.</a:t>
            </a:r>
            <a:endParaRPr lang="en-US" sz="1200" dirty="0"/>
          </a:p>
        </p:txBody>
      </p:sp>
      <p:pic>
        <p:nvPicPr>
          <p:cNvPr id="7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METODE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Waktu Tempuh Dipecah Jadi Dua Ruas yang Tidak Tumpang Tindih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2349749"/>
              </p:ext>
            </p:extLst>
          </p:nvPr>
        </p:nvGraphicFramePr>
        <p:xfrm>
          <a:off x="548640" y="1554480"/>
          <a:ext cx="5394960" cy="301752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Sumber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tabel analisis analytics.fact_order_delivery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Basis analisis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96.184 pesanan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Jan 2017 - 31 Ags 2018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Cakupan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Hanya status terkirim (delivered), tanggal terima terisi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Dikecualikan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 pesanan dgn urutan tanggal mustahil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PostgreSQL, Python, Excel (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hasil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</a:t>
                      </a:r>
                      <a:r>
                        <a:rPr lang="en-US" sz="1100" dirty="0" err="1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identik</a:t>
                      </a:r>
                      <a:r>
                        <a:rPr lang="en-US" sz="110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Shape 2"/>
          <p:cNvSpPr/>
          <p:nvPr/>
        </p:nvSpPr>
        <p:spPr>
          <a:xfrm>
            <a:off x="6217920" y="155448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40080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0080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170078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(porsi penjual)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92240" y="221284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serah ke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kurir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pembelian. Waktu menyiapkan dan menyerahkan barang.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17920" y="3108960"/>
            <a:ext cx="539496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400800" y="32918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0080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6903720" y="32552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(porsi kurir)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6492240" y="37673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Tanggal terima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- tanggal serah ke kurir. Waktu jaringan pengiriman.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48640" y="470916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84632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Penanganan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b="1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anomali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pesanan tercatat diterima pelanggan lebih dulu daripada diserahkan ke kurir — mustahil secara fisik. Pesanan ini ditandai sebagai anomali dan dikeluarkan dari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perhitungan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Seluruhnya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kebetulan berstatus tepat waktu, sehingga jumlah pesanan telat tidak berubah.
</a:t>
            </a:r>
            <a:r>
              <a:rPr lang="en-US" sz="1150" b="1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dan median dilaporkan bersama 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karena sebaran keterlambatan sangat miring. Rata-rata untuk menaksir beban total, median untuk pengalaman pelanggan pada umumnya.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Sekali Telat, Melesetnya Jauh Melebihi Sekadar Terlambat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9,55 hari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rata-rata keterlambatan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5,81 hari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keterlambatan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188,98 hari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kasus terparah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778240" y="1554480"/>
            <a:ext cx="28346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915400" y="166420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10,21 hari</a:t>
            </a:r>
            <a:endParaRPr lang="en-US" sz="2600" dirty="0"/>
          </a:p>
        </p:txBody>
      </p:sp>
      <p:sp>
        <p:nvSpPr>
          <p:cNvPr id="15" name="Text 13"/>
          <p:cNvSpPr txBox="1"/>
          <p:nvPr/>
        </p:nvSpPr>
        <p:spPr>
          <a:xfrm>
            <a:off x="8915400" y="2103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waktu kirim normal (pembanding)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060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3,74 hari antara rata-rata dan median menunjukkan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sebaran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miring. </a:t>
            </a:r>
            <a:r>
              <a:rPr lang="en-US" sz="12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Separuh</a:t>
            </a: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telat meleset ≤5,81 hari, sementara segelintir kasus ekstrem menarik rata-rata jauh ke atas.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246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Keterlambatan per Bulan - Bulan Terpilih</a:t>
            </a:r>
            <a:endParaRPr lang="en-US" sz="1300" dirty="0"/>
          </a:p>
        </p:txBody>
      </p:sp>
      <p:graphicFrame>
        <p:nvGraphicFramePr>
          <p:cNvPr id="18" name="Chart 0"/>
          <p:cNvGraphicFramePr/>
          <p:nvPr/>
        </p:nvGraphicFramePr>
        <p:xfrm>
          <a:off x="548640" y="3611880"/>
          <a:ext cx="6949440" cy="26517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9" name="Shape 16"/>
          <p:cNvSpPr/>
          <p:nvPr/>
        </p:nvSpPr>
        <p:spPr>
          <a:xfrm>
            <a:off x="7726680" y="3611880"/>
            <a:ext cx="3886200" cy="123444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7909560" y="37947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790956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412480" y="375818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musim puncak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001000" y="427024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naik 63% (4.478 → 7.288 pesanan). Pola khas Black Friday menekan kapasitas gudang.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7726680" y="4937760"/>
            <a:ext cx="3886200" cy="1325880"/>
          </a:xfrm>
          <a:prstGeom prst="roundRect">
            <a:avLst>
              <a:gd name="adj" fmla="val 551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909560" y="5120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90956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8412480" y="5084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bukan kapasitas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8001000" y="5596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Terjadi pada volume normal, namun lebih parah dari Nov 2017. Penyebabnya harus dicari di tempat lain (lihat P2).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86% Selisih Waktu Terjadi di Transit Kurir, Bukan di Gudang</a:t>
            </a:r>
            <a:endParaRPr lang="en-US" sz="2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196596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Tahap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Rasio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 (penjual)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 (kurir)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23,93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9,71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29,15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3,0×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4290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Ketiga angka pada tiap baris adalah median terpisah, bukan penjumlahan — median dari total ≠ total dari median. Porsi di grafik memakai rata-rata karena bisa dijumlahkan.</a:t>
            </a:r>
            <a:endParaRPr lang="en-US" sz="1050" dirty="0"/>
          </a:p>
        </p:txBody>
      </p:sp>
      <p:sp>
        <p:nvSpPr>
          <p:cNvPr id="6" name="Text 3"/>
          <p:cNvSpPr txBox="1"/>
          <p:nvPr/>
        </p:nvSpPr>
        <p:spPr>
          <a:xfrm>
            <a:off x="7818120" y="160020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Kontribusi terhadap Selisih Rata-rata 20,64 Hari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7818120" y="1965960"/>
          <a:ext cx="37947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4160520"/>
            <a:ext cx="11064240" cy="1005840"/>
          </a:xfrm>
          <a:prstGeom prst="roundRect">
            <a:avLst>
              <a:gd name="adj" fmla="val 7273"/>
            </a:avLst>
          </a:prstGeom>
          <a:solidFill>
            <a:srgbClr val="2C1B12"/>
          </a:solidFill>
          <a:ln/>
        </p:spPr>
        <p:txBody>
          <a:bodyPr/>
          <a:p/>
        </p:txBody>
      </p:sp>
      <p:sp>
        <p:nvSpPr>
          <p:cNvPr id="9" name="Text 5"/>
          <p:cNvSpPr txBox="1"/>
          <p:nvPr/>
        </p:nvSpPr>
        <p:spPr>
          <a:xfrm>
            <a:off x="822960" y="42519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Kesimpulan: keterlambatan terjadi di tahap pengiriman kurir. </a:t>
            </a:r>
            <a:r>
              <a:rPr lang="en-US" sz="12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Gudang penjual ikut melambat pada pesanan telat, tapi kontribusinya kecil (14%) dan tidak menjelaskan besarnya masalah. Perbaikan sejak Apr 2018 membuktikan masalah ini dapat diselesaikan.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P2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 Krisis, Dua Penyebab Berbeda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Terhadap tingkat dasar 2,2 hari (ke kurir) dan 7,0 hari (transit):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269748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Bulan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Yang memburuk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 2017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 hari (+44%)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Gudang penjual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11,02 hari (+57%)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 hari (normal)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9,88 hari (+41%)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Pengiriman kurir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Ags 2018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1,76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4,95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Keduanya membaik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152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5"/>
          <p:cNvSpPr txBox="1"/>
          <p:nvPr/>
        </p:nvSpPr>
        <p:spPr>
          <a:xfrm>
            <a:off x="73152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123444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— Kapasitas Gudang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 kurir melonjak +44% saat volume musim puncak naik 63%. Ini masalah kapasitas gudang penjual.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217920" y="4800600"/>
            <a:ext cx="5394960" cy="1508760"/>
          </a:xfrm>
          <a:prstGeom prst="roundRect">
            <a:avLst>
              <a:gd name="adj" fmla="val 4848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400800" y="49834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0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F/M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903720" y="494690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Feb–Mar 2018 — Jaringan Kurir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5458968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 melonjak +57% dan +41% pada volume normal. Ini masalah jaringan pengiriman kurir, bukan kapasitas.</a:t>
            </a:r>
            <a:endParaRPr lang="en-US" sz="1150" dirty="0"/>
          </a:p>
        </p:txBody>
      </p:sp>
      <p:pic>
        <p:nvPicPr>
          <p:cNvPr id="16" name="Image 0" descr="assets/box_terracotta.png"/>
          <p:cNvPicPr>
            <a:picLocks noChangeAspect="1"/>
          </p:cNvPicPr>
          <p:nvPr/>
        </p:nvPicPr>
        <p:blipFill>
          <a:blip r:embed="rId3">
            <a:alphaModFix amt="85000"/>
          </a:blip>
          <a:stretch>
            <a:fillRect/>
          </a:stretch>
        </p:blipFill>
        <p:spPr>
          <a:xfrm>
            <a:off x="10607040" y="5989320"/>
            <a:ext cx="502920" cy="5029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Penjual Bukan Akar Masalahnya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2.943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aktif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554480"/>
            <a:ext cx="260604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664208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1.388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210312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pernah kirim pesanan telat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035040" y="1554480"/>
            <a:ext cx="502920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172200" y="166420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23,98%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172200" y="21031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keterlambatan disumbang 20 penjual teratas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4864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3152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!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23444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Konsentrasi ini menyesatkan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penjual teratas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menangani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1.000 - 1.800 pesanan masing-masing dengan tingkat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10 - 11%. Hanya sedikit di atas rata-rata keseluruhan 8,13%. Mereka muncul di puncak daftar karena volume besar, bukan kinerja buruk.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6217920" y="2651760"/>
            <a:ext cx="5394960" cy="1828800"/>
          </a:xfrm>
          <a:prstGeom prst="roundRect">
            <a:avLst>
              <a:gd name="adj" fmla="val 4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0" y="2834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00800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6903720" y="2798064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Penjual bermasalah justru tak terlihat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92240" y="3310128"/>
            <a:ext cx="48463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Bervolume kecil dan tidak muncul di daftar teratas.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Contohnya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389 pesanan dengan 23,14%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dan 380 pesanan dengan 16,58% telat.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Jumlahnya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sedikit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dampak pembinaan penjual ke angka keseluruhan akan kecil.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470916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2C1B12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822960" y="484632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Implikasi: 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 pembinaan penjual akan berdampak kecil terhadap angka keseluruhan. Akar masalah ada di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lain. </a:t>
            </a:r>
            <a:r>
              <a:rPr lang="en-US" sz="13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Lihat</a:t>
            </a:r>
            <a:r>
              <a:rPr lang="en-US" sz="13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wilayah tujuan berikut.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P3 (LANJUTAN)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Wilayah Tujuan Adalah Akar Masalahnya</a:t>
            </a:r>
            <a:endParaRPr lang="en-US" sz="2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0355690"/>
              </p:ext>
            </p:extLst>
          </p:nvPr>
        </p:nvGraphicFramePr>
        <p:xfrm>
          <a:off x="548640" y="1554480"/>
          <a:ext cx="6675120" cy="2468880"/>
        </p:xfrm>
        <a:graphic>
          <a:graphicData uri="http://schemas.openxmlformats.org/drawingml/2006/table">
            <a:tbl>
              <a:tblPr/>
              <a:tblGrid>
                <a:gridCol w="2651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Provinsi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Median transit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Maranhão (MA)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19,64%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15,68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Pará (PA)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12,42%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17,30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São Paulo (SP)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5,90%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4,42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Paraná (PR)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7,18 hari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3DD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3794760"/>
            <a:ext cx="6675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Rentang antarprovinsi 3,9× (Maranhão vs Paraná). Provinsi utara &amp; timur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yaitu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Maranhão, Ceará, Pará, Bahia konsisten terburuk. São Paulo menyerap 42% volume (40.386 pesanan) dengan kinerja terbaik kedua.</a:t>
            </a:r>
            <a:endParaRPr lang="en-US" sz="1150" dirty="0"/>
          </a:p>
        </p:txBody>
      </p:sp>
      <p:sp>
        <p:nvSpPr>
          <p:cNvPr id="6" name="Shape 3"/>
          <p:cNvSpPr/>
          <p:nvPr/>
        </p:nvSpPr>
        <p:spPr>
          <a:xfrm>
            <a:off x="7452360" y="1554480"/>
            <a:ext cx="4160520" cy="2423160"/>
          </a:xfrm>
          <a:prstGeom prst="roundRect">
            <a:avLst>
              <a:gd name="adj" fmla="val 3019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7635240" y="173736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7635240" y="1737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RJ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8138160" y="170078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Pengecualian: Rio de Janeiro</a:t>
            </a:r>
            <a:endParaRPr lang="en-US" sz="1400" dirty="0"/>
          </a:p>
        </p:txBody>
      </p:sp>
      <p:sp>
        <p:nvSpPr>
          <p:cNvPr id="4" name="Text 7"/>
          <p:cNvSpPr txBox="1"/>
          <p:nvPr/>
        </p:nvSpPr>
        <p:spPr>
          <a:xfrm>
            <a:off x="7726680" y="2212848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hanya 8,38 hari. Ruang janjinya setara MG (16,2 vs 16,4 hari), jadi bukan soal janji. Masalahnya di ekor: 10% pesanan paling lambat transit ≥24 hari, MG hanya 15 hari.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7452360" y="4114800"/>
            <a:ext cx="4160520" cy="1325880"/>
          </a:xfrm>
          <a:prstGeom prst="roundRect">
            <a:avLst>
              <a:gd name="adj" fmla="val 5926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7635240" y="42976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635240" y="4297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×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8138160" y="4261104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Jenis produk bukan faktor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726680" y="4773168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kategori berada di rentang 5,39% - 9,75%, jauh lebih sempit dari antarprovinsi (5,02% - 19,64%). Berat produk juga tidak berpola.</a:t>
            </a:r>
            <a:endParaRPr lang="en-US" sz="11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Catatan: peringkat di atas dibatasi provinsi ≥500 pesanan. Tanpa batas ini, dasbor menampilkan puncak berbeda: Alagoas 23,99% (396 pesanan) &amp; Piauí 16,00% (475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Keduanya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benar, menjawab pertanyaan berbeda.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338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Janji Makin Ketat, Krisis Maret Bersifat Nasional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68580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39,0 → 13,4 hari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pengiriman, Jan 2017–Ags 2018 (turun 66%)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29768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43484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1,36%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terbaik, Jun 2018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8046720" y="15544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8183880" y="1664208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10,39%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13230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 naik lagi, Ags 2018 (janji di titik terketat)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60604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Peringatan: pada Ags 2018 selisih janji di titik terendah (13,4 hari) dan keterlambatan naik kembali. Pola serupa terjadi Mar 2018, janji diperketat (24,3 → 21,3 hari)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tepat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200" dirty="0">
              <a:solidFill>
                <a:srgbClr val="4A4038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</a:t>
            </a:r>
            <a:r>
              <a:rPr lang="en-US" sz="12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gangguan</a:t>
            </a:r>
            <a:r>
              <a:rPr lang="en-US" sz="12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pengiriman berlangsung, memperparah bulan itu.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Krisis Maret 2018 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Bersifat</a:t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Nasional (vs Jan + Apr 2018, Semua Provinsi Memburuk)</a:t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 err="1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3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30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48640" y="3794760"/>
          <a:ext cx="6949440" cy="24231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6" name="Shape 13"/>
          <p:cNvSpPr/>
          <p:nvPr/>
        </p:nvSpPr>
        <p:spPr>
          <a:xfrm>
            <a:off x="7726680" y="3794760"/>
            <a:ext cx="3886200" cy="1143000"/>
          </a:xfrm>
          <a:prstGeom prst="roundRect">
            <a:avLst>
              <a:gd name="adj" fmla="val 64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7909560" y="397764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18" name="Text 15"/>
          <p:cNvSpPr txBox="1"/>
          <p:nvPr/>
        </p:nvSpPr>
        <p:spPr>
          <a:xfrm>
            <a:off x="7909560" y="3977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8412480" y="394106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Bahkan São Paulo naik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001000" y="4453128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 3,0% ke 11,7% atas 2.971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Provinsi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paling stabil pun ikut terdampak.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7726680" y="5029200"/>
            <a:ext cx="3886200" cy="1325880"/>
          </a:xfrm>
          <a:prstGeom prst="roundRect">
            <a:avLst>
              <a:gd name="adj" fmla="val 6154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22" name="Shape 19"/>
          <p:cNvSpPr/>
          <p:nvPr/>
        </p:nvSpPr>
        <p:spPr>
          <a:xfrm>
            <a:off x="7909560" y="5212080"/>
            <a:ext cx="384048" cy="384048"/>
          </a:xfrm>
          <a:prstGeom prst="ellipse">
            <a:avLst/>
          </a:prstGeom>
          <a:solidFill>
            <a:srgbClr val="B85042"/>
          </a:solidFill>
          <a:ln/>
        </p:spPr>
        <p:txBody>
          <a:bodyPr/>
          <a:p/>
        </p:txBody>
      </p:sp>
      <p:sp>
        <p:nvSpPr>
          <p:cNvPr id="23" name="Text 20"/>
          <p:cNvSpPr txBox="1"/>
          <p:nvPr/>
        </p:nvSpPr>
        <p:spPr>
          <a:xfrm>
            <a:off x="7909560" y="5212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</a:t>
            </a:r>
            <a:endParaRPr lang="en-US" sz="1600" dirty="0"/>
          </a:p>
        </p:txBody>
      </p:sp>
      <p:sp>
        <p:nvSpPr>
          <p:cNvPr id="24" name="Text 21"/>
          <p:cNvSpPr txBox="1"/>
          <p:nvPr/>
        </p:nvSpPr>
        <p:spPr>
          <a:xfrm>
            <a:off x="8412480" y="5175504"/>
            <a:ext cx="3017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Hari pembelian tak berpengaruh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8001000" y="5687568"/>
            <a:ext cx="3337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Tingkat telat berkisar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sempit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7,50% - 9,07% (Senin tertinggi, Minggu </a:t>
            </a: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terendah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en-US" sz="115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</a:t>
            </a:r>
            <a:r>
              <a:rPr lang="en-US" sz="115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terlalu kecil untuk dasar tindakan.</a:t>
            </a:r>
            <a:endParaRPr lang="en-US" sz="1150" dirty="0"/>
          </a:p>
        </p:txBody>
      </p:sp>
      <p:sp>
        <p:nvSpPr>
          <p:cNvPr id="26" name="Text 2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5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TEMUAN · P5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2C1B1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 Ambang Batas Kesabaran Pelanggan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2296084"/>
              </p:ext>
            </p:extLst>
          </p:nvPr>
        </p:nvGraphicFramePr>
        <p:xfrm>
          <a:off x="548640" y="1508760"/>
          <a:ext cx="6675120" cy="2331720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114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Kondisi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Skor ulasan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Ulasan 1–2★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8504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Tepat waktu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9,19%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1–3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19,22%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4–7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61,25%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8–15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78,58%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Telat &gt;15 hari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2C1B1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78,30%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526280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Titik patah di kelompok telat 4–7 hari.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buruk melompat 3× (19,22% → 61,25%). Setelah hari ke-8,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jenuh</a:t>
            </a:r>
            <a:r>
              <a:rPr lang="en-US" sz="1100" dirty="0">
                <a:solidFill>
                  <a:srgbClr val="4A4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Telat 10 hari &amp; 60 hari sama-sama ±78% ulasan buruk. Median keterlambatan Olist (5,81 hari) jatuh tepat di kelompok ini.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452360" y="150876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7589520" y="161848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4.139</a:t>
            </a:r>
            <a:endParaRPr lang="en-US" sz="2600" dirty="0"/>
          </a:p>
        </p:txBody>
      </p:sp>
      <p:sp>
        <p:nvSpPr>
          <p:cNvPr id="8" name="Text 5"/>
          <p:cNvSpPr txBox="1"/>
          <p:nvPr/>
        </p:nvSpPr>
        <p:spPr>
          <a:xfrm>
            <a:off x="7589520" y="205740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aktual dari pesanan telat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452360" y="2560320"/>
            <a:ext cx="4160520" cy="914400"/>
          </a:xfrm>
          <a:prstGeom prst="roundRect">
            <a:avLst>
              <a:gd name="adj" fmla="val 8000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7589520" y="2670048"/>
            <a:ext cx="3886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2E7D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704</a:t>
            </a:r>
            <a:endParaRPr lang="en-US" sz="26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31089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ulasan buruk wajar bila tepat waktu (9,19%)</a:t>
            </a:r>
            <a:endParaRPr lang="en-US" sz="1100" dirty="0"/>
          </a:p>
        </p:txBody>
      </p:sp>
      <p:sp>
        <p:nvSpPr>
          <p:cNvPr id="4" name="Shape 9"/>
          <p:cNvSpPr/>
          <p:nvPr/>
        </p:nvSpPr>
        <p:spPr>
          <a:xfrm>
            <a:off x="7452360" y="3611880"/>
            <a:ext cx="4160520" cy="1051560"/>
          </a:xfrm>
          <a:prstGeom prst="roundRect">
            <a:avLst>
              <a:gd name="adj" fmla="val 6957"/>
            </a:avLst>
          </a:prstGeom>
          <a:solidFill>
            <a:srgbClr val="F7F4EE"/>
          </a:solidFill>
          <a:ln w="9525">
            <a:solidFill>
              <a:srgbClr val="E3DDD0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7589520" y="3721608"/>
            <a:ext cx="3886200" cy="57835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3.435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7589520" y="4242816"/>
            <a:ext cx="3886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C1B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 kecewa berlebih — akibat keterlambatan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800600"/>
            <a:ext cx="4160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pesanan terdampak (bukan kerugian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finansial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langsung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i="1" dirty="0" err="1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barang</a:t>
            </a:r>
            <a:r>
              <a:rPr lang="en-US" sz="1000" i="1" dirty="0">
                <a:solidFill>
                  <a:srgbClr val="857A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tetap terkirim &amp; dibayar). Ini ukuran skala pendapatan yang berisiko terhadap kepercayaan pelanggan.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REKOMENDASI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3152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Enam Langkah, Diurutkan dari Dampak Terbesar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Arahkan perbaikan ke jaringan kurir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86% selisih waktu telat vs tepat waktu ada di transit. Pembinaan penjual hanya menyentuh 14%.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3891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57200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Ubah target: bukan nol, tapi ≤3 hari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Kerusakan kepuasan melonjak di telat 4–7 hari, jenuh setelah hari ke-8.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Menarik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telat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 → 3 hari lebih murah dari mengejar ketepatan sempurna.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22960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0" y="173736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8412480" y="216712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Tetapkan batas bawah selisih janji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412480" y="265176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Selisih janji turun 66% dalam 20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bulan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Di 13,4 hari (Ags 2018) telat naik ke 10,39%. Perlu batas bawah agar janji tak lampaui kapasitas.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73152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Prioritaskan wilayah utara &amp; timur laut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Maranhão, Ceará, Pará, Bahia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konsisten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terburuk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Maranhão hampir 4× Paraná.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3891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457200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Selidiki Rio de Janeiro terpisah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13,52% telat padahal median transit 8,38 hari. Bukan soal janji: 10% pesanan paling lambat transit ≥24 hari. Telusuri ekor ini.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2960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8412480" y="374904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8412480" y="417880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rgbClr val="E7E8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Siapkan dua protokol musiman berbeda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412480" y="466344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2017 = </a:t>
            </a:r>
            <a:r>
              <a:rPr lang="en-US" sz="100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kapasitas</a:t>
            </a: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gudang, Feb – Mar 2018 = gangguan jaringan kurir. Satu protokol untuk keduanya akan meleset.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11521440" y="644652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B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BATASAN ANALISIS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4864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73152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Cakupan data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Hanya pesanan terkirim (delivered) dengan tanggal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terisi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Angka telat adalah batas bawah dari pengalaman buruk pelanggan.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438912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57200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Periode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457200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berakhir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Ags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2018, tren perbaikan sejak Apr belum pasti bertahan.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229600" y="96012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8412480" y="10515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Nilai kerugian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0" y="13441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BRL 1.124.036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adalah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nilai pesanan terdampak, bukan kerugian finansial langsung.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73152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Ukuran kepuasan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643 pesanan tanpa ulasan dikeluarkan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dari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P5.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Pelanggan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kecewa tanpa ulasan tak terwakili.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438912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57200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Ambang volume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Peringkat provinsi pakai batas ≥500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pesanan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Alagoas &amp; Piauí tak muncul meski lebih buruk.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229600" y="2194560"/>
            <a:ext cx="3611880" cy="1051560"/>
          </a:xfrm>
          <a:prstGeom prst="roundRect">
            <a:avLst>
              <a:gd name="adj" fmla="val 6957"/>
            </a:avLst>
          </a:prstGeom>
          <a:solidFill>
            <a:srgbClr val="3D2A1D"/>
          </a:solidFill>
          <a:ln/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412480" y="228600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Sebab</a:t>
            </a: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b="1" dirty="0" err="1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akibat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0" y="257860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Penyebab gangguan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jaringan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Feb – Mar 2018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dapat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950" dirty="0" err="1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dipastikan</a:t>
            </a:r>
            <a:r>
              <a:rPr lang="en-US" sz="95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Tak ada data mitra kurir/rute/kejadian eksternal.</a:t>
            </a:r>
            <a:endParaRPr lang="en-US" sz="950" dirty="0"/>
          </a:p>
        </p:txBody>
      </p:sp>
      <p:pic>
        <p:nvPicPr>
          <p:cNvPr id="21" name="Image 0" descr="assets/box_ligh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3429000"/>
            <a:ext cx="2286000" cy="228600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914400" y="580644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E7E8D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Keterlambatan Pengiriman Marketplace Olist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914400" y="626364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Terima kasih — Arif Herfian Zaen Chartiko · Jan 2017–Ags 2018</a:t>
            </a:r>
            <a:endParaRPr lang="en-US" sz="1100" dirty="0"/>
          </a:p>
        </p:txBody>
      </p:sp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1828</Words>
  <Application>Microsoft Office PowerPoint</Application>
  <PresentationFormat>Widescreen</PresentationFormat>
  <Paragraphs>280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Diagnosis Keterlambatan Pengiriman Marketplace Olist – Presentasi</dc:title>
  <dc:subject>PptxGenJS Presentation</dc:subject>
  <dc:creator>Arif Herfian Zaen Chartiko</dc:creator>
  <cp:lastModifiedBy>Arif Herfian Zaen Chartiko</cp:lastModifiedBy>
  <cp:revision>20</cp:revision>
  <dcterms:created xsi:type="dcterms:W3CDTF">2026-09-04T08:07:30Z</dcterms:created>
  <dcterms:modified xsi:type="dcterms:W3CDTF">2026-09-07T07:15:43Z</dcterms:modified>
</cp:coreProperties>
</file>