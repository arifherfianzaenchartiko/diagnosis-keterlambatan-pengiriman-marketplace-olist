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79" d="100"/>
          <a:sy n="79" d="100"/>
        </p:scale>
        <p:origin x="74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si bravo" userId="161362f8529bc145" providerId="LiveId" clId="{63EF0039-CC50-4603-BAC1-0069894D0085}"/>
    <pc:docChg chg="undo custSel modSld">
      <pc:chgData name="msi bravo" userId="161362f8529bc145" providerId="LiveId" clId="{63EF0039-CC50-4603-BAC1-0069894D0085}" dt="2026-09-07T07:15:39.985" v="129" actId="478"/>
      <pc:docMkLst>
        <pc:docMk/>
      </pc:docMkLst>
      <pc:sldChg chg="addSp delSp modSp mod">
        <pc:chgData name="msi bravo" userId="161362f8529bc145" providerId="LiveId" clId="{63EF0039-CC50-4603-BAC1-0069894D0085}" dt="2026-09-07T07:15:10.713" v="127" actId="478"/>
        <pc:sldMkLst>
          <pc:docMk/>
          <pc:sldMk cId="0" sldId="257"/>
        </pc:sldMkLst>
        <pc:picChg chg="del mod">
          <ac:chgData name="msi bravo" userId="161362f8529bc145" providerId="LiveId" clId="{63EF0039-CC50-4603-BAC1-0069894D0085}" dt="2026-09-07T07:05:06.998" v="2" actId="478"/>
          <ac:picMkLst>
            <pc:docMk/>
            <pc:sldMk cId="0" sldId="257"/>
            <ac:picMk id="36" creationId="{10B19DFC-FDA9-153D-4463-3684674477D2}"/>
          </ac:picMkLst>
        </pc:picChg>
        <pc:picChg chg="add del mod ord">
          <ac:chgData name="msi bravo" userId="161362f8529bc145" providerId="LiveId" clId="{63EF0039-CC50-4603-BAC1-0069894D0085}" dt="2026-09-07T07:15:10.713" v="127" actId="478"/>
          <ac:picMkLst>
            <pc:docMk/>
            <pc:sldMk cId="0" sldId="257"/>
            <ac:picMk id="37" creationId="{9DCC67C9-1B49-C8C2-63DC-A92F6A0A7926}"/>
          </ac:picMkLst>
        </pc:picChg>
      </pc:sldChg>
      <pc:sldChg chg="addSp delSp modSp mod">
        <pc:chgData name="msi bravo" userId="161362f8529bc145" providerId="LiveId" clId="{63EF0039-CC50-4603-BAC1-0069894D0085}" dt="2026-09-07T07:15:06.882" v="126" actId="478"/>
        <pc:sldMkLst>
          <pc:docMk/>
          <pc:sldMk cId="0" sldId="258"/>
        </pc:sldMkLst>
        <pc:picChg chg="add del mod ord">
          <ac:chgData name="msi bravo" userId="161362f8529bc145" providerId="LiveId" clId="{63EF0039-CC50-4603-BAC1-0069894D0085}" dt="2026-09-07T07:15:06.882" v="126" actId="478"/>
          <ac:picMkLst>
            <pc:docMk/>
            <pc:sldMk cId="0" sldId="258"/>
            <ac:picMk id="10" creationId="{112BD6E9-EC95-68E6-246C-73247C98977B}"/>
          </ac:picMkLst>
        </pc:picChg>
        <pc:picChg chg="del">
          <ac:chgData name="msi bravo" userId="161362f8529bc145" providerId="LiveId" clId="{63EF0039-CC50-4603-BAC1-0069894D0085}" dt="2026-09-07T07:05:09.877" v="3" actId="478"/>
          <ac:picMkLst>
            <pc:docMk/>
            <pc:sldMk cId="0" sldId="258"/>
            <ac:picMk id="13" creationId="{9F7FB11D-46C7-A01C-2C88-DE275EA982D5}"/>
          </ac:picMkLst>
        </pc:picChg>
      </pc:sldChg>
      <pc:sldChg chg="addSp delSp modSp mod">
        <pc:chgData name="msi bravo" userId="161362f8529bc145" providerId="LiveId" clId="{63EF0039-CC50-4603-BAC1-0069894D0085}" dt="2026-09-07T07:14:59.639" v="125" actId="478"/>
        <pc:sldMkLst>
          <pc:docMk/>
          <pc:sldMk cId="0" sldId="259"/>
        </pc:sldMkLst>
        <pc:picChg chg="add del mod ord">
          <ac:chgData name="msi bravo" userId="161362f8529bc145" providerId="LiveId" clId="{63EF0039-CC50-4603-BAC1-0069894D0085}" dt="2026-09-07T07:09:58.834" v="106" actId="478"/>
          <ac:picMkLst>
            <pc:docMk/>
            <pc:sldMk cId="0" sldId="259"/>
            <ac:picMk id="19" creationId="{112856AA-64F7-3A3F-AE96-7964ECDB4197}"/>
          </ac:picMkLst>
        </pc:picChg>
        <pc:picChg chg="del">
          <ac:chgData name="msi bravo" userId="161362f8529bc145" providerId="LiveId" clId="{63EF0039-CC50-4603-BAC1-0069894D0085}" dt="2026-09-07T07:05:12.159" v="4" actId="478"/>
          <ac:picMkLst>
            <pc:docMk/>
            <pc:sldMk cId="0" sldId="259"/>
            <ac:picMk id="20" creationId="{E32853B0-6549-E1A7-3BA8-B814D502C662}"/>
          </ac:picMkLst>
        </pc:picChg>
        <pc:picChg chg="add del mod ord">
          <ac:chgData name="msi bravo" userId="161362f8529bc145" providerId="LiveId" clId="{63EF0039-CC50-4603-BAC1-0069894D0085}" dt="2026-09-07T07:14:59.639" v="125" actId="478"/>
          <ac:picMkLst>
            <pc:docMk/>
            <pc:sldMk cId="0" sldId="259"/>
            <ac:picMk id="22" creationId="{81FBD400-CE4A-75B8-57A2-B2397A8C68C3}"/>
          </ac:picMkLst>
        </pc:picChg>
      </pc:sldChg>
      <pc:sldChg chg="addSp delSp modSp mod">
        <pc:chgData name="msi bravo" userId="161362f8529bc145" providerId="LiveId" clId="{63EF0039-CC50-4603-BAC1-0069894D0085}" dt="2026-09-07T07:15:34.683" v="128" actId="478"/>
        <pc:sldMkLst>
          <pc:docMk/>
          <pc:sldMk cId="0" sldId="260"/>
        </pc:sldMkLst>
        <pc:picChg chg="add del mod">
          <ac:chgData name="msi bravo" userId="161362f8529bc145" providerId="LiveId" clId="{63EF0039-CC50-4603-BAC1-0069894D0085}" dt="2026-09-07T07:15:34.683" v="128" actId="478"/>
          <ac:picMkLst>
            <pc:docMk/>
            <pc:sldMk cId="0" sldId="260"/>
            <ac:picMk id="31" creationId="{DE5C0D47-002B-D5DC-2C7E-5AFBE9C7446A}"/>
          </ac:picMkLst>
        </pc:picChg>
      </pc:sldChg>
      <pc:sldChg chg="addSp delSp modSp mod">
        <pc:chgData name="msi bravo" userId="161362f8529bc145" providerId="LiveId" clId="{63EF0039-CC50-4603-BAC1-0069894D0085}" dt="2026-09-07T07:15:39.985" v="129" actId="478"/>
        <pc:sldMkLst>
          <pc:docMk/>
          <pc:sldMk cId="0" sldId="265"/>
        </pc:sldMkLst>
        <pc:picChg chg="add del mod">
          <ac:chgData name="msi bravo" userId="161362f8529bc145" providerId="LiveId" clId="{63EF0039-CC50-4603-BAC1-0069894D0085}" dt="2026-09-07T07:15:39.985" v="129" actId="478"/>
          <ac:picMkLst>
            <pc:docMk/>
            <pc:sldMk cId="0" sldId="265"/>
            <ac:picMk id="28" creationId="{13C941EE-064C-2849-6BF5-46A8CA4BDEFB}"/>
          </ac:picMkLst>
        </pc:picChg>
      </pc:sldChg>
      <pc:sldChg chg="delSp mod">
        <pc:chgData name="msi bravo" userId="161362f8529bc145" providerId="LiveId" clId="{63EF0039-CC50-4603-BAC1-0069894D0085}" dt="2026-09-07T07:14:52.552" v="124" actId="478"/>
        <pc:sldMkLst>
          <pc:docMk/>
          <pc:sldMk cId="0" sldId="266"/>
        </pc:sldMkLst>
        <pc:picChg chg="del">
          <ac:chgData name="msi bravo" userId="161362f8529bc145" providerId="LiveId" clId="{63EF0039-CC50-4603-BAC1-0069894D0085}" dt="2026-09-07T07:14:52.552" v="124" actId="478"/>
          <ac:picMkLst>
            <pc:docMk/>
            <pc:sldMk cId="0" sldId="266"/>
            <ac:picMk id="18" creationId="{76166B97-CB10-243C-AFD1-2FF740E8A003}"/>
          </ac:picMkLst>
        </pc:picChg>
      </pc:sldChg>
      <pc:sldChg chg="delSp mod">
        <pc:chgData name="msi bravo" userId="161362f8529bc145" providerId="LiveId" clId="{63EF0039-CC50-4603-BAC1-0069894D0085}" dt="2026-09-07T07:14:49.390" v="123" actId="478"/>
        <pc:sldMkLst>
          <pc:docMk/>
          <pc:sldMk cId="0" sldId="267"/>
        </pc:sldMkLst>
        <pc:picChg chg="del">
          <ac:chgData name="msi bravo" userId="161362f8529bc145" providerId="LiveId" clId="{63EF0039-CC50-4603-BAC1-0069894D0085}" dt="2026-09-07T07:14:49.390" v="123" actId="478"/>
          <ac:picMkLst>
            <pc:docMk/>
            <pc:sldMk cId="0" sldId="267"/>
            <ac:picMk id="30" creationId="{F8F6AF05-6A8F-12CE-683E-B42CFC3B9DA3}"/>
          </ac:picMkLst>
        </pc:pic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Tingkat Telat (%)</c:v>
                </c:pt>
              </c:strCache>
            </c:strRef>
          </c:tx>
          <c:spPr>
            <a:solidFill>
              <a:srgbClr val="B85042"/>
            </a:solidFill>
            <a:effectLst/>
          </c:spPr>
          <c:invertIfNegative val="0"/>
          <c:dLbls>
            <c:numFmt formatCode="0.0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2C1B12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Jun 2018
(terbaik)</c:v>
                </c:pt>
                <c:pt idx="1">
                  <c:v>Bulan normal
(dasar)</c:v>
                </c:pt>
                <c:pt idx="2">
                  <c:v>Nov 2017</c:v>
                </c:pt>
                <c:pt idx="3">
                  <c:v>Feb 2018</c:v>
                </c:pt>
                <c:pt idx="4">
                  <c:v>Mar 2018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1.36</c:v>
                </c:pt>
                <c:pt idx="1">
                  <c:v>6</c:v>
                </c:pt>
                <c:pt idx="2">
                  <c:v>14.31</c:v>
                </c:pt>
                <c:pt idx="3">
                  <c:v>15.99</c:v>
                </c:pt>
                <c:pt idx="4">
                  <c:v>21.36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34B-4EFD-BCFE-DE1210D88625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2C1B1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3DDD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lang="en-ID" sz="1000" b="0" i="0" u="none" strike="noStrike">
                    <a:solidFill>
                      <a:srgbClr val="000000"/>
                    </a:solidFill>
                    <a:latin typeface="Arial"/>
                  </a:rPr>
                  <a:t>% telat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C1B1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Kontribusi</c:v>
                </c:pt>
              </c:strCache>
            </c:strRef>
          </c:tx>
          <c:spPr>
            <a:solidFill>
              <a:srgbClr val="B85042"/>
            </a:solidFill>
            <a:effectLst/>
          </c:spPr>
          <c:invertIfNegative val="0"/>
          <c:dLbls>
            <c:numFmt formatCode="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2C1B12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Transit kurir</c:v>
                </c:pt>
                <c:pt idx="1">
                  <c:v>Gudang penjual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86.0</c:v>
                </c:pt>
                <c:pt idx="1">
                  <c:v>14.0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BA1-431A-A2FE-3CA96B1C43BF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2C1B1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Kenaikan tingkat telat (poin)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0.0&quot;pp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50" b="0" i="0" u="none" strike="noStrike">
                    <a:solidFill>
                      <a:srgbClr val="2C1B12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Espírito Santo</c:v>
                </c:pt>
                <c:pt idx="1">
                  <c:v>Rio de Janeiro</c:v>
                </c:pt>
                <c:pt idx="2">
                  <c:v>Minas Gerais</c:v>
                </c:pt>
                <c:pt idx="3">
                  <c:v>Bahia</c:v>
                </c:pt>
                <c:pt idx="4">
                  <c:v>São Paulo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30.4</c:v>
                </c:pt>
                <c:pt idx="1">
                  <c:v>26.5</c:v>
                </c:pt>
                <c:pt idx="2">
                  <c:v>19.8</c:v>
                </c:pt>
                <c:pt idx="3">
                  <c:v>19.5</c:v>
                </c:pt>
                <c:pt idx="4">
                  <c:v>8.7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B41-4D50-B925-B2F688A406A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2C1B1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550782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chart" Target="../charts/char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1B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ox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0" y="914400"/>
            <a:ext cx="2286000" cy="2286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0" y="3429000"/>
            <a:ext cx="1216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20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OPERASIONAL · JAN 2017 – AGS 2018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914400" y="3794760"/>
            <a:ext cx="10332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E7E8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Diagnosis Keterlambatan</a:t>
            </a:r>
            <a:endParaRPr lang="en-US" sz="400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E7E8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Pengiriman Marketplace Olist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914400" y="548640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Disusun oleh Arif Herfian Zaen Chartiko (Operations Analyst) untuk Head of Logistics &amp; Fulfillment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RINGKASAN EKSEKUTIF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2C1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OTD 91,87% Terlihat Sehat, Menyembunyikan 3 Masalah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606040" cy="960120"/>
          </a:xfrm>
          <a:prstGeom prst="roundRect">
            <a:avLst>
              <a:gd name="adj" fmla="val 7619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294751" y="1653508"/>
            <a:ext cx="1113817" cy="52806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96.184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17627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pesanan dikirim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(Jan 2017–Ags 2018)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91840" y="1600200"/>
            <a:ext cx="2606040" cy="960120"/>
          </a:xfrm>
          <a:prstGeom prst="roundRect">
            <a:avLst>
              <a:gd name="adj" fmla="val 7619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4198360" y="1645920"/>
            <a:ext cx="948447" cy="52806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7.822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3429000" y="217627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pesanan tiba telat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(8,13% dari total)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035040" y="1600200"/>
            <a:ext cx="2606040" cy="960120"/>
          </a:xfrm>
          <a:prstGeom prst="roundRect">
            <a:avLst>
              <a:gd name="adj" fmla="val 7619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737377" y="1610098"/>
            <a:ext cx="1201366" cy="52806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E7D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91,87%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6172200" y="217627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On-Time Delivery Rate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778240" y="1600200"/>
            <a:ext cx="2834640" cy="960120"/>
          </a:xfrm>
          <a:prstGeom prst="roundRect">
            <a:avLst>
              <a:gd name="adj" fmla="val 7619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9473281" y="1610098"/>
            <a:ext cx="1444557" cy="52806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9,55 hari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8915400" y="2176272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rata-rata keterlambatan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(terparah 188,98 hari)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2788920"/>
            <a:ext cx="3566160" cy="1920240"/>
          </a:xfrm>
          <a:prstGeom prst="roundRect">
            <a:avLst>
              <a:gd name="adj" fmla="val 3810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731520" y="2971800"/>
            <a:ext cx="384048" cy="384048"/>
          </a:xfrm>
          <a:prstGeom prst="ellipse">
            <a:avLst/>
          </a:prstGeom>
          <a:solidFill>
            <a:srgbClr val="B85042"/>
          </a:solidFill>
          <a:ln/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731520" y="2971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234440" y="2935224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Sekali telat, telatnya jauh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34472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Bukan meleset beberapa jam. Rata-rata keterlambatan 9,55 hari, dengan kasus terparah mencapai 188,98 hari.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297680" y="2788920"/>
            <a:ext cx="3566160" cy="1920240"/>
          </a:xfrm>
          <a:prstGeom prst="roundRect">
            <a:avLst>
              <a:gd name="adj" fmla="val 3810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4480560" y="2971800"/>
            <a:ext cx="384048" cy="384048"/>
          </a:xfrm>
          <a:prstGeom prst="ellipse">
            <a:avLst/>
          </a:prstGeom>
          <a:solidFill>
            <a:srgbClr val="B85042"/>
          </a:solidFill>
          <a:ln/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4480560" y="2971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4983480" y="2935224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Masalahnya di jalan, bukan gudang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0" y="34472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86% dari selisih waktu telat vs tepat waktu terjadi di tahap transit kurir, hanya 14% di gudang penjual. Pembinaan penjual tidak menyentuh akar masalah.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8046720" y="2788920"/>
            <a:ext cx="3566160" cy="1920240"/>
          </a:xfrm>
          <a:prstGeom prst="roundRect">
            <a:avLst>
              <a:gd name="adj" fmla="val 3810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8229600" y="2971800"/>
            <a:ext cx="384048" cy="384048"/>
          </a:xfrm>
          <a:prstGeom prst="ellipse">
            <a:avLst/>
          </a:prstGeom>
          <a:solidFill>
            <a:srgbClr val="B85042"/>
          </a:solidFill>
          <a:ln/>
        </p:spPr>
        <p:txBody>
          <a:bodyPr/>
          <a:p/>
        </p:txBody>
      </p:sp>
      <p:sp>
        <p:nvSpPr>
          <p:cNvPr id="28" name="Text 26"/>
          <p:cNvSpPr txBox="1"/>
          <p:nvPr/>
        </p:nvSpPr>
        <p:spPr>
          <a:xfrm>
            <a:off x="8229600" y="2971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8732520" y="2935224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Kerusakan lebih cepat dari dugaan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8321040" y="34472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Skor ulasan jatuh dari 4,30 ke 2,57 saat telat. Titik patah di </a:t>
            </a:r>
            <a:r>
              <a:rPr lang="en-US" sz="11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hari</a:t>
            </a: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ke-3-7. </a:t>
            </a:r>
            <a:r>
              <a:rPr lang="en-US" sz="11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Ulasan</a:t>
            </a: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buruk melonjak dari 19,22% ke 61,25%.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48640" y="4892040"/>
            <a:ext cx="11064240" cy="1005840"/>
          </a:xfrm>
          <a:prstGeom prst="roundRect">
            <a:avLst>
              <a:gd name="adj" fmla="val 7273"/>
            </a:avLst>
          </a:prstGeom>
          <a:solidFill>
            <a:srgbClr val="2C1B12"/>
          </a:solidFill>
          <a:ln/>
        </p:spPr>
        <p:txBody>
          <a:bodyPr/>
          <a:p/>
        </p:txBody>
      </p:sp>
      <p:sp>
        <p:nvSpPr>
          <p:cNvPr id="32" name="Text 30"/>
          <p:cNvSpPr txBox="1"/>
          <p:nvPr/>
        </p:nvSpPr>
        <p:spPr>
          <a:xfrm>
            <a:off x="822960" y="50292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</a:t>
            </a:r>
            <a:r>
              <a:rPr lang="en-US" sz="1250" b="1" dirty="0" err="1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strategis</a:t>
            </a:r>
            <a:r>
              <a:rPr lang="en-US" sz="1250" b="1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	: </a:t>
            </a:r>
            <a:r>
              <a:rPr lang="en-US" sz="1250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bukan "nol keterlambatan", melainkan "jangan telat lebih dari 3 </a:t>
            </a:r>
            <a:r>
              <a:rPr lang="en-US" sz="1250" dirty="0" err="1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hari</a:t>
            </a:r>
            <a:r>
              <a:rPr lang="en-US" sz="1250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</a:t>
            </a:r>
          </a:p>
          <a:p>
            <a:pPr marL="0" indent="0">
              <a:lnSpc>
                <a:spcPct val="115000"/>
              </a:lnSpc>
              <a:buNone/>
            </a:pPr>
            <a:r>
              <a:rPr lang="en-US" sz="1250" dirty="0" err="1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Dampak</a:t>
            </a:r>
            <a:r>
              <a:rPr lang="en-US" sz="125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periode</a:t>
            </a:r>
            <a:r>
              <a:rPr lang="en-US" sz="125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</a:t>
            </a:r>
            <a:r>
              <a:rPr lang="en-US" sz="125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	: 3.435 pelanggan kecewa berlebih, melekat pada pesanan senilai BRL 1.124.036</a:t>
            </a:r>
            <a:endParaRPr lang="en-US" sz="1250" dirty="0"/>
          </a:p>
        </p:txBody>
      </p:sp>
      <p:pic>
        <p:nvPicPr>
          <p:cNvPr id="33" name="Image 0" descr="assets/box_terracotta.png"/>
          <p:cNvPicPr>
            <a:picLocks noChangeAspect="1"/>
          </p:cNvPicPr>
          <p:nvPr/>
        </p:nvPicPr>
        <p:blipFill>
          <a:blip r:embed="rId3">
            <a:alphaModFix amt="85000"/>
          </a:blip>
          <a:stretch>
            <a:fillRect/>
          </a:stretch>
        </p:blipFill>
        <p:spPr>
          <a:xfrm>
            <a:off x="10607040" y="5989320"/>
            <a:ext cx="502920" cy="502920"/>
          </a:xfrm>
          <a:prstGeom prst="rect">
            <a:avLst/>
          </a:prstGeom>
        </p:spPr>
      </p:pic>
      <p:sp>
        <p:nvSpPr>
          <p:cNvPr id="34" name="Text 31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LATAR BELAKANG &amp; PERTANYAAN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2C1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Lima Pertanyaan, </a:t>
            </a:r>
            <a:r>
              <a:rPr lang="en-US" sz="2700" b="1" dirty="0" err="1">
                <a:solidFill>
                  <a:srgbClr val="2C1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Disusun</a:t>
            </a:r>
            <a:r>
              <a:rPr lang="en-US" sz="2700" b="1" dirty="0">
                <a:solidFill>
                  <a:srgbClr val="2C1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2700" b="1" dirty="0" err="1">
                <a:solidFill>
                  <a:srgbClr val="2C1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Mengerucut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Olist adalah marketplace yang menghubungkan penjual kecil di Brasil </a:t>
            </a:r>
            <a:r>
              <a:rPr lang="en-US" sz="13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dengan</a:t>
            </a:r>
            <a:r>
              <a:rPr lang="en-US" sz="13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pembeli</a:t>
            </a:r>
            <a:r>
              <a:rPr lang="en-US" sz="13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  <a:r>
              <a:rPr lang="en-US" sz="13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Pengiriman</a:t>
            </a:r>
            <a:r>
              <a:rPr lang="en-US" sz="13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ditangani mitra kurir. Setiap pesanan membawa tanggal janji tiba </a:t>
            </a:r>
            <a:r>
              <a:rPr lang="en-US" sz="13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saat</a:t>
            </a:r>
            <a:r>
              <a:rPr lang="en-US" sz="13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checkout. Telat berarti tanggal terima aktual melewati tanggal janji tersebut.</a:t>
            </a:r>
            <a:endParaRPr lang="en-US" sz="13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1403792"/>
              </p:ext>
            </p:extLst>
          </p:nvPr>
        </p:nvGraphicFramePr>
        <p:xfrm>
          <a:off x="548640" y="2423160"/>
          <a:ext cx="11064240" cy="3291840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49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Pertanyaan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Seberapa parah keterlambatannya? Persen pesanan telat, seberapa lama, kapan memburuk.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 tahap mana keterlambatan terjadi? Gudang penjual atau pengiriman kurir.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Siapa/apa penyumbang terbesarnya? Penjual, wilayah tujuan, atau jenis produk.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Kapan risikonya memuncak? Pola musiman dan penyebab </a:t>
                      </a:r>
                      <a:r>
                        <a:rPr lang="en-US" sz="1300" dirty="0" err="1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krisis</a:t>
                      </a:r>
                      <a:r>
                        <a:rPr lang="en-US" sz="130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Feb - Mar 2018.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Berapa kerugiannya? Dampak keterlambatan terhadap kepuasan pelanggan.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61722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Urutan </a:t>
            </a:r>
            <a:r>
              <a:rPr lang="en-US" sz="1200" i="1" dirty="0" err="1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dibuat</a:t>
            </a:r>
            <a:r>
              <a:rPr lang="en-US" sz="1200" i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i="1" dirty="0" err="1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mengerucut</a:t>
            </a:r>
            <a:r>
              <a:rPr lang="en-US" sz="1200" i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mengukur besar masalah → tahap &amp; pelaku → nilai kerugian.</a:t>
            </a:r>
            <a:endParaRPr lang="en-US" sz="1200" dirty="0"/>
          </a:p>
        </p:txBody>
      </p:sp>
      <p:pic>
        <p:nvPicPr>
          <p:cNvPr id="7" name="Image 0" descr="assets/box_terracotta.png"/>
          <p:cNvPicPr>
            <a:picLocks noChangeAspect="1"/>
          </p:cNvPicPr>
          <p:nvPr/>
        </p:nvPicPr>
        <p:blipFill>
          <a:blip r:embed="rId3">
            <a:alphaModFix amt="85000"/>
          </a:blip>
          <a:stretch>
            <a:fillRect/>
          </a:stretch>
        </p:blipFill>
        <p:spPr>
          <a:xfrm>
            <a:off x="10607040" y="5989320"/>
            <a:ext cx="502920" cy="5029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METODE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338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C1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Waktu Tempuh Dipecah Jadi Dua Ruas yang Tidak Tumpang Tindih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2349749"/>
              </p:ext>
            </p:extLst>
          </p:nvPr>
        </p:nvGraphicFramePr>
        <p:xfrm>
          <a:off x="548640" y="1554480"/>
          <a:ext cx="5394960" cy="3017520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Sumber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PostgreSQL, view analytics.fact_order_delivery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Basis analisis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96.184 pesanan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Periode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Jan 2017 - 31 Ags 2018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Cakupan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Hanya status delivered, tanggal terima terisi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Dikecualikan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 pesanan dgn urutan tanggal mustahil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PostgreSQL, Python, Excel (</a:t>
                      </a:r>
                      <a:r>
                        <a:rPr lang="en-US" sz="1100" dirty="0" err="1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hasil</a:t>
                      </a:r>
                      <a:r>
                        <a:rPr lang="en-US" sz="110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1100" dirty="0" err="1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identik</a:t>
                      </a:r>
                      <a:r>
                        <a:rPr lang="en-US" sz="110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Shape 2"/>
          <p:cNvSpPr/>
          <p:nvPr/>
        </p:nvSpPr>
        <p:spPr>
          <a:xfrm>
            <a:off x="6217920" y="1554480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400800" y="1737360"/>
            <a:ext cx="384048" cy="384048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40080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6903720" y="1700784"/>
            <a:ext cx="4526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 kurir (porsi penjual)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492240" y="2212848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Tanggal serah ke </a:t>
            </a:r>
            <a:r>
              <a:rPr lang="en-US" sz="11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kurir</a:t>
            </a: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tanggal pembelian. Waktu menyiapkan dan menyerahkan barang.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17920" y="3108960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400800" y="3291840"/>
            <a:ext cx="384048" cy="384048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40080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6903720" y="3255264"/>
            <a:ext cx="4526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 (porsi kurir)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6492240" y="3767328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Tanggal terima </a:t>
            </a:r>
            <a:r>
              <a:rPr lang="en-US" sz="11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pelanggan</a:t>
            </a: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tanggal serah ke kurir. Waktu jaringan pengiriman.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48640" y="4709160"/>
            <a:ext cx="11064240" cy="1417320"/>
          </a:xfrm>
          <a:prstGeom prst="roundRect">
            <a:avLst>
              <a:gd name="adj" fmla="val 5161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2960" y="484632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b="1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Penanganan</a:t>
            </a:r>
            <a:r>
              <a:rPr lang="en-US" sz="1150" b="1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b="1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anomali</a:t>
            </a:r>
            <a:r>
              <a:rPr lang="en-US" sz="1150" b="1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pesanan tercatat diterima pelanggan lebih dulu daripada diserahkan ke kurir — mustahil secara fisik. Pesanan ini ditandai has_sequence_anomaly dan dikeluarkan dari </a:t>
            </a:r>
            <a:r>
              <a:rPr lang="en-US" sz="11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seluruh</a:t>
            </a: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perhitungan</a:t>
            </a: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  <a:r>
              <a:rPr lang="en-US" sz="11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Seluruhnya</a:t>
            </a: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kebetulan berstatus tepat waktu, sehingga jumlah pesanan telat tidak berubah.
</a:t>
            </a:r>
            <a:r>
              <a:rPr lang="en-US" sz="1150" b="1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Rata-rata dan median dilaporkan bersama </a:t>
            </a: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karena sebaran keterlambatan sangat miring. Rata-rata untuk menaksir beban total, median untuk pengalaman pelanggan pada umumnya.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TEMUAN · Q1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338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C1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Sekali Telat, Melesetnya Jauh Melebihi Sekadar Terlambat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664208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9,55 hari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1031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rata-rata keterlambatan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91840" y="155448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29000" y="1664208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5,81 hari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3429000" y="21031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keterlambatan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035040" y="155448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172200" y="1664208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188,98 hari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172200" y="21031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kasus terparah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778240" y="1554480"/>
            <a:ext cx="2834640" cy="914400"/>
          </a:xfrm>
          <a:prstGeom prst="roundRect">
            <a:avLst>
              <a:gd name="adj" fmla="val 8000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915400" y="1664208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10,21 hari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8915400" y="21031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waktu kirim normal (pembanding)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26060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Selisih 3,74 hari antara rata-rata dan median menunjukkan </a:t>
            </a:r>
            <a:r>
              <a:rPr lang="en-US" sz="12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sebaran</a:t>
            </a:r>
            <a:r>
              <a:rPr lang="en-US" sz="12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miring. </a:t>
            </a:r>
            <a:r>
              <a:rPr lang="en-US" sz="12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Separuh</a:t>
            </a:r>
            <a:r>
              <a:rPr lang="en-US" sz="12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pesanan telat meleset ≤5,81 hari, sementara segelintir kasus ekstrem menarik rata-rata jauh ke atas.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32461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Tingkat Keterlambatan per Bulan - Bulan Terpilih</a:t>
            </a:r>
            <a:endParaRPr lang="en-US" sz="1300" dirty="0"/>
          </a:p>
        </p:txBody>
      </p:sp>
      <p:graphicFrame>
        <p:nvGraphicFramePr>
          <p:cNvPr id="18" name="Chart 0"/>
          <p:cNvGraphicFramePr/>
          <p:nvPr/>
        </p:nvGraphicFramePr>
        <p:xfrm>
          <a:off x="548640" y="3611880"/>
          <a:ext cx="6949440" cy="2651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9" name="Shape 16"/>
          <p:cNvSpPr/>
          <p:nvPr/>
        </p:nvSpPr>
        <p:spPr>
          <a:xfrm>
            <a:off x="7726680" y="3611880"/>
            <a:ext cx="3886200" cy="1234440"/>
          </a:xfrm>
          <a:prstGeom prst="roundRect">
            <a:avLst>
              <a:gd name="adj" fmla="val 5926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909560" y="3794760"/>
            <a:ext cx="384048" cy="384048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7909560" y="3794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8412480" y="3758184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 2017 — musim puncak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001000" y="427024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naik 63% (4.478 → 7.288 pesanan). Pola khas Black Friday menekan kapasitas gudang.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7726680" y="4937760"/>
            <a:ext cx="3886200" cy="1325880"/>
          </a:xfrm>
          <a:prstGeom prst="roundRect">
            <a:avLst>
              <a:gd name="adj" fmla="val 5517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7909560" y="5120640"/>
            <a:ext cx="384048" cy="384048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7909560" y="5120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8412480" y="5084064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Feb–Mar 2018 — bukan kapasitas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8001000" y="5596128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Terjadi pada volume normal, namun lebih parah dari Nov 2017. Penyebabnya harus dicari di tempat lain (lihat Q2).</a:t>
            </a:r>
            <a:endParaRPr lang="en-US" sz="1150" dirty="0"/>
          </a:p>
        </p:txBody>
      </p:sp>
      <p:sp>
        <p:nvSpPr>
          <p:cNvPr id="29" name="Text 26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TEMUAN · Q2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338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C1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86% Selisih Waktu Terjadi di Transit Kurir, Bukan di Gudang</a:t>
            </a:r>
            <a:endParaRPr lang="en-US" sz="2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6949440" cy="196596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Tahap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Tepat waktu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Telat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Rasio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 kurir (penjual)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 hari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 hari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1,6×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Transit (kurir)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6,93 hari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23,93 hari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3,5×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9,71 hari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29,15 hari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3,0×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342900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85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Ketiga angka pada tiap baris adalah median terpisah, bukan penjumlahan — median dari total ≠ total dari median. Porsi di grafik memakai rata-rata karena bisa dijumlahkan.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7818120" y="1600200"/>
            <a:ext cx="3794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Kontribusi terhadap Selisih Rata-rata 20,64 Hari</a:t>
            </a:r>
            <a:endParaRPr lang="en-US" sz="13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7818120" y="1965960"/>
          <a:ext cx="3794760" cy="2194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Shape 4"/>
          <p:cNvSpPr/>
          <p:nvPr/>
        </p:nvSpPr>
        <p:spPr>
          <a:xfrm>
            <a:off x="548640" y="4160520"/>
            <a:ext cx="11064240" cy="1005840"/>
          </a:xfrm>
          <a:prstGeom prst="roundRect">
            <a:avLst>
              <a:gd name="adj" fmla="val 7273"/>
            </a:avLst>
          </a:prstGeom>
          <a:solidFill>
            <a:srgbClr val="2C1B12"/>
          </a:solidFill>
          <a:ln/>
        </p:spPr>
        <p:txBody>
          <a:bodyPr/>
          <a:p/>
        </p:txBody>
      </p:sp>
      <p:sp>
        <p:nvSpPr>
          <p:cNvPr id="9" name="Text 5"/>
          <p:cNvSpPr txBox="1"/>
          <p:nvPr/>
        </p:nvSpPr>
        <p:spPr>
          <a:xfrm>
            <a:off x="822960" y="42519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Kesimpulan: keterlambatan terjadi di tahap pengiriman kurir. </a:t>
            </a:r>
            <a:r>
              <a:rPr lang="en-US" sz="12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Gudang penjual ikut melambat pada pesanan telat, tapi kontribusinya kecil (14%) dan tidak menjelaskan besarnya masalah. Perbaikan sejak Apr 2018 membuktikan masalah ini dapat diselesaikan.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TEMUAN · Q2 (LANJUTAN)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2C1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Dua Krisis, Dua Penyebab Berbeda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Terhadap tingkat dasar 2,2 hari (ke kurir) dan 7,0 hari (transit):</a:t>
            </a:r>
            <a:endParaRPr lang="en-US" sz="12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11064240" cy="269748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Bulan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 kurir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Yang memburuk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 2017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3,16 hari (+44%)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Gudang penjual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 2018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11,02 hari (+57%)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Pengiriman kurir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 2018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 hari (normal)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9,88 hari (+41%)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Pengiriman kurir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Ags 2018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1,76 hari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4,95 hari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Keduanya membaik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800600"/>
            <a:ext cx="5394960" cy="1508760"/>
          </a:xfrm>
          <a:prstGeom prst="roundRect">
            <a:avLst>
              <a:gd name="adj" fmla="val 4848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31520" y="4983480"/>
            <a:ext cx="384048" cy="384048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5" name="Text 5"/>
          <p:cNvSpPr txBox="1"/>
          <p:nvPr/>
        </p:nvSpPr>
        <p:spPr>
          <a:xfrm>
            <a:off x="731520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234440" y="4946904"/>
            <a:ext cx="4526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 2017 — Kapasitas Gudang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5458968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 kurir melonjak +44% saat volume musim puncak naik 63%. Ini masalah kapasitas gudang penjual.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217920" y="4800600"/>
            <a:ext cx="5394960" cy="1508760"/>
          </a:xfrm>
          <a:prstGeom prst="roundRect">
            <a:avLst>
              <a:gd name="adj" fmla="val 4848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400800" y="4983480"/>
            <a:ext cx="384048" cy="384048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400800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F/M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6903720" y="4946904"/>
            <a:ext cx="4526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Feb–Mar 2018 — Jaringan Kurir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6492240" y="5458968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 melonjak +57% dan +41% pada volume normal. Ini masalah jaringan pengiriman kurir, bukan kapasitas.</a:t>
            </a:r>
            <a:endParaRPr lang="en-US" sz="1150" dirty="0"/>
          </a:p>
        </p:txBody>
      </p:sp>
      <p:pic>
        <p:nvPicPr>
          <p:cNvPr id="16" name="Image 0" descr="assets/box_terracotta.png"/>
          <p:cNvPicPr>
            <a:picLocks noChangeAspect="1"/>
          </p:cNvPicPr>
          <p:nvPr/>
        </p:nvPicPr>
        <p:blipFill>
          <a:blip r:embed="rId3">
            <a:alphaModFix amt="85000"/>
          </a:blip>
          <a:stretch>
            <a:fillRect/>
          </a:stretch>
        </p:blipFill>
        <p:spPr>
          <a:xfrm>
            <a:off x="10607040" y="5989320"/>
            <a:ext cx="502920" cy="5029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TEMUAN · Q3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2C1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Penjual Bukan Akar Masalahnya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664208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2.943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1031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penjual aktif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91840" y="155448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29000" y="1664208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1.388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3429000" y="21031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pernah kirim pesanan telat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035040" y="1554480"/>
            <a:ext cx="5029200" cy="914400"/>
          </a:xfrm>
          <a:prstGeom prst="roundRect">
            <a:avLst>
              <a:gd name="adj" fmla="val 8000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172200" y="1664208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23,98%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6172200" y="21031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keterlambatan disumbang 20 penjual teratas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2651760"/>
            <a:ext cx="5394960" cy="1828800"/>
          </a:xfrm>
          <a:prstGeom prst="roundRect">
            <a:avLst>
              <a:gd name="adj" fmla="val 4000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1520" y="2834640"/>
            <a:ext cx="384048" cy="384048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1520" y="2834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2798064"/>
            <a:ext cx="4526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Konsentrasi ini menyesatkan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3310128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penjual teratas </a:t>
            </a:r>
            <a:r>
              <a:rPr lang="en-US" sz="11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menangani</a:t>
            </a: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1.000 - 1.800 pesanan masing-masing dengan tingkat </a:t>
            </a:r>
            <a:r>
              <a:rPr lang="en-US" sz="11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telat</a:t>
            </a: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10 - 11%. Hanya sedikit di atas rata-rata keseluruhan 8,13%. Mereka muncul di puncak daftar karena volume besar, bukan kinerja buruk.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217920" y="2651760"/>
            <a:ext cx="5394960" cy="1828800"/>
          </a:xfrm>
          <a:prstGeom prst="roundRect">
            <a:avLst>
              <a:gd name="adj" fmla="val 4000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0" y="2834640"/>
            <a:ext cx="384048" cy="384048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0" y="2834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903720" y="2798064"/>
            <a:ext cx="4526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Penjual bermasalah justru tak terlihat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492240" y="3310128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Bervolume kecil dan tidak muncul di daftar teratas. </a:t>
            </a:r>
            <a:r>
              <a:rPr lang="en-US" sz="11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Contohnya</a:t>
            </a: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389 pesanan dengan 23,14% </a:t>
            </a:r>
            <a:r>
              <a:rPr lang="en-US" sz="11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telat</a:t>
            </a: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dan 380 pesanan dengan 16,58% telat. </a:t>
            </a:r>
            <a:r>
              <a:rPr lang="en-US" sz="11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Jumlahnya</a:t>
            </a: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sedikit</a:t>
            </a: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dampak pembinaan penjual ke angka keseluruhan akan kecil.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48640" y="470916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2C1B1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22960" y="48463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Implikasi: </a:t>
            </a:r>
            <a:r>
              <a:rPr lang="en-US" sz="13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 pembinaan penjual akan berdampak kecil terhadap angka keseluruhan. Akar masalah ada di </a:t>
            </a:r>
            <a:r>
              <a:rPr lang="en-US" sz="1300" dirty="0" err="1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tempat</a:t>
            </a:r>
            <a:r>
              <a:rPr lang="en-US" sz="13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lain. </a:t>
            </a:r>
            <a:r>
              <a:rPr lang="en-US" sz="1300" dirty="0" err="1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Lihat</a:t>
            </a:r>
            <a:r>
              <a:rPr lang="en-US" sz="13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wilayah tujuan berikut.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TEMUAN · Q3 (LANJUTAN)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2C1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Wilayah Tujuan Adalah Akar Masalahnya</a:t>
            </a:r>
            <a:endParaRPr lang="en-US" sz="25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0355690"/>
              </p:ext>
            </p:extLst>
          </p:nvPr>
        </p:nvGraphicFramePr>
        <p:xfrm>
          <a:off x="548640" y="1554480"/>
          <a:ext cx="6675120" cy="2468880"/>
        </p:xfrm>
        <a:graphic>
          <a:graphicData uri="http://schemas.openxmlformats.org/drawingml/2006/table">
            <a:tbl>
              <a:tblPr/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Provinsi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Telat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 transit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Maranhão (MA)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19,64%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15,68 hari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Pará (PA)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12,42%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17,30 hari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São Paulo (SP)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5,90%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4,42 hari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Paraná (PR)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5,02%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7,18 hari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3794760"/>
            <a:ext cx="6675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Rentang antarprovinsi 3,9× (Maranhão vs Paraná). Provinsi utara &amp; timur </a:t>
            </a:r>
            <a:r>
              <a:rPr lang="en-US" sz="11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laut</a:t>
            </a: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yaitu</a:t>
            </a: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Maranhão, Ceará, Pará, Bahia konsisten terburuk. São Paulo menyerap 42% volume (40.386 pesanan) dengan kinerja terbaik kedua.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7452360" y="1554480"/>
            <a:ext cx="4160520" cy="2423160"/>
          </a:xfrm>
          <a:prstGeom prst="roundRect">
            <a:avLst>
              <a:gd name="adj" fmla="val 3019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7635240" y="1737360"/>
            <a:ext cx="384048" cy="384048"/>
          </a:xfrm>
          <a:prstGeom prst="ellipse">
            <a:avLst/>
          </a:prstGeom>
          <a:solidFill>
            <a:srgbClr val="B85042"/>
          </a:solidFill>
          <a:ln/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763524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RJ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138160" y="1700784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Pengecualian: Rio de Janeiro</a:t>
            </a:r>
            <a:endParaRPr lang="en-US" sz="1400" dirty="0"/>
          </a:p>
        </p:txBody>
      </p:sp>
      <p:sp>
        <p:nvSpPr>
          <p:cNvPr id="4" name="Text 7"/>
          <p:cNvSpPr txBox="1"/>
          <p:nvPr/>
        </p:nvSpPr>
        <p:spPr>
          <a:xfrm>
            <a:off x="7726680" y="2212848"/>
            <a:ext cx="36118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13,52% telat padahal median transit hanya 8,38 hari. Ruang janjinya setara MG (16,2 vs 16,4 hari), jadi bukan soal janji. Masalahnya di ekor: 10% pesanan paling lambat transit ≥24 hari, MG hanya 15 hari.</a:t>
            </a:r>
            <a:r>
              <a:rPr lang="en-US" sz="11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1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1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1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1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1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7452360" y="4114800"/>
            <a:ext cx="4160520" cy="1325880"/>
          </a:xfrm>
          <a:prstGeom prst="roundRect">
            <a:avLst>
              <a:gd name="adj" fmla="val 5926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7635240" y="4297680"/>
            <a:ext cx="384048" cy="384048"/>
          </a:xfrm>
          <a:prstGeom prst="ellipse">
            <a:avLst/>
          </a:prstGeom>
          <a:solidFill>
            <a:srgbClr val="B85042"/>
          </a:solidFill>
          <a:ln/>
        </p:spPr>
        <p:txBody>
          <a:bodyPr/>
          <a:p/>
        </p:txBody>
      </p:sp>
      <p:sp>
        <p:nvSpPr>
          <p:cNvPr id="13" name="Text 10"/>
          <p:cNvSpPr txBox="1"/>
          <p:nvPr/>
        </p:nvSpPr>
        <p:spPr>
          <a:xfrm>
            <a:off x="7635240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8138160" y="4261104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Jenis produk bukan faktor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726680" y="4773168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kategori berada di rentang 5,39% - 9,75%, jauh lebih sempit dari antarprovinsi (5,02% - 19,64%). Berat produk juga tidak berpola.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54406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i="1" dirty="0">
                <a:solidFill>
                  <a:srgbClr val="85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Catatan: peringkat di atas dibatasi provinsi ≥500 pesanan. Tanpa batas ini, dasbor menampilkan puncak berbeda: Alagoas 23,99% (396 pesanan) &amp; Piauí 16,00% (475 </a:t>
            </a:r>
            <a:r>
              <a:rPr lang="en-US" sz="1000" i="1" dirty="0" err="1">
                <a:solidFill>
                  <a:srgbClr val="85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pesanan</a:t>
            </a:r>
            <a:r>
              <a:rPr lang="en-US" sz="1000" i="1" dirty="0">
                <a:solidFill>
                  <a:srgbClr val="85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 </a:t>
            </a:r>
            <a:r>
              <a:rPr lang="en-US" sz="1000" i="1" dirty="0" err="1">
                <a:solidFill>
                  <a:srgbClr val="85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Keduanya</a:t>
            </a:r>
            <a:r>
              <a:rPr lang="en-US" sz="1000" i="1" dirty="0">
                <a:solidFill>
                  <a:srgbClr val="85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benar, menjawab pertanyaan berbeda.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TEMUAN · Q4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338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C1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Janji Makin Ketat, Krisis Maret Bersifat Nasional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66160" cy="914400"/>
          </a:xfrm>
          <a:prstGeom prst="roundRect">
            <a:avLst>
              <a:gd name="adj" fmla="val 8000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85800" y="166420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39,0 → 13,4 hari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13230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selisih janji pengiriman, Jan 2017–Ags 2018 (turun 66%)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297680" y="1554480"/>
            <a:ext cx="3566160" cy="914400"/>
          </a:xfrm>
          <a:prstGeom prst="roundRect">
            <a:avLst>
              <a:gd name="adj" fmla="val 8000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4434840" y="166420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2E7D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1,36%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4434840" y="213230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titik terbaik, Jun 2018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046720" y="1554480"/>
            <a:ext cx="3566160" cy="914400"/>
          </a:xfrm>
          <a:prstGeom prst="roundRect">
            <a:avLst>
              <a:gd name="adj" fmla="val 8000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8183880" y="166420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10,39%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8183880" y="213230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telat naik lagi, Ags 2018 (janji di titik terketat)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2606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Peringatan: pada Ags 2018 selisih janji di titik terendah (13,4 hari) dan keterlambatan naik kembali. Pola serupa terjadi Mar 2018, janji diperketat (24,3 → 21,3 hari) </a:t>
            </a:r>
            <a:r>
              <a:rPr lang="en-US" sz="120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tepat</a:t>
            </a:r>
            <a:r>
              <a:rPr lang="en-US" sz="12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saat</a:t>
            </a:r>
            <a:endParaRPr lang="en-US" sz="1200" dirty="0">
              <a:solidFill>
                <a:srgbClr val="4A4038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            </a:t>
            </a:r>
            <a:r>
              <a:rPr lang="en-US" sz="120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gangguan</a:t>
            </a:r>
            <a:r>
              <a:rPr lang="en-US" sz="12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pengiriman berlangsung, memperparah bulan itu.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4290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Krisis Maret 2018 </a:t>
            </a:r>
            <a:r>
              <a:rPr lang="en-US" sz="1300" b="1" dirty="0" err="1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Bersifat</a:t>
            </a:r>
            <a:r>
              <a:rPr lang="en-US" sz="1300" b="1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Nasional (vs Jan + Apr 2018, Semua Provinsi Memburuk)</a:t>
            </a:r>
            <a:r>
              <a:rPr lang="en-US" sz="1300" b="1" dirty="0" err="1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300" b="1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300" b="1" dirty="0" err="1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300" b="1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300" b="1" dirty="0" err="1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300" b="1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300" dirty="0"/>
          </a:p>
        </p:txBody>
      </p:sp>
      <p:graphicFrame>
        <p:nvGraphicFramePr>
          <p:cNvPr id="15" name="Chart 0"/>
          <p:cNvGraphicFramePr/>
          <p:nvPr/>
        </p:nvGraphicFramePr>
        <p:xfrm>
          <a:off x="548640" y="3794760"/>
          <a:ext cx="6949440" cy="2423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6" name="Shape 13"/>
          <p:cNvSpPr/>
          <p:nvPr/>
        </p:nvSpPr>
        <p:spPr>
          <a:xfrm>
            <a:off x="7726680" y="3794760"/>
            <a:ext cx="3886200" cy="1143000"/>
          </a:xfrm>
          <a:prstGeom prst="roundRect">
            <a:avLst>
              <a:gd name="adj" fmla="val 6400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  <p:txBody>
          <a:bodyPr/>
          <a:p/>
        </p:txBody>
      </p:sp>
      <p:sp>
        <p:nvSpPr>
          <p:cNvPr id="17" name="Shape 14"/>
          <p:cNvSpPr/>
          <p:nvPr/>
        </p:nvSpPr>
        <p:spPr>
          <a:xfrm>
            <a:off x="7909560" y="3977640"/>
            <a:ext cx="384048" cy="384048"/>
          </a:xfrm>
          <a:prstGeom prst="ellipse">
            <a:avLst/>
          </a:prstGeom>
          <a:solidFill>
            <a:srgbClr val="B85042"/>
          </a:solidFill>
          <a:ln/>
        </p:spPr>
        <p:txBody>
          <a:bodyPr/>
          <a:p/>
        </p:txBody>
      </p:sp>
      <p:sp>
        <p:nvSpPr>
          <p:cNvPr id="18" name="Text 15"/>
          <p:cNvSpPr txBox="1"/>
          <p:nvPr/>
        </p:nvSpPr>
        <p:spPr>
          <a:xfrm>
            <a:off x="7909560" y="3977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8412480" y="3941064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Bahkan São Paulo naik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8001000" y="4453128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Dari 3,0% ke 11,7% atas 2.971 </a:t>
            </a:r>
            <a:r>
              <a:rPr lang="en-US" sz="11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pesanan</a:t>
            </a: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Provinsi</a:t>
            </a: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paling stabil pun ikut terdampak.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7726680" y="5029200"/>
            <a:ext cx="3886200" cy="1325880"/>
          </a:xfrm>
          <a:prstGeom prst="roundRect">
            <a:avLst>
              <a:gd name="adj" fmla="val 6154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  <p:txBody>
          <a:bodyPr/>
          <a:p/>
        </p:txBody>
      </p:sp>
      <p:sp>
        <p:nvSpPr>
          <p:cNvPr id="22" name="Shape 19"/>
          <p:cNvSpPr/>
          <p:nvPr/>
        </p:nvSpPr>
        <p:spPr>
          <a:xfrm>
            <a:off x="7909560" y="5212080"/>
            <a:ext cx="384048" cy="384048"/>
          </a:xfrm>
          <a:prstGeom prst="ellipse">
            <a:avLst/>
          </a:prstGeom>
          <a:solidFill>
            <a:srgbClr val="B85042"/>
          </a:solidFill>
          <a:ln/>
        </p:spPr>
        <p:txBody>
          <a:bodyPr/>
          <a:p/>
        </p:txBody>
      </p:sp>
      <p:sp>
        <p:nvSpPr>
          <p:cNvPr id="23" name="Text 20"/>
          <p:cNvSpPr txBox="1"/>
          <p:nvPr/>
        </p:nvSpPr>
        <p:spPr>
          <a:xfrm>
            <a:off x="7909560" y="5212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8412480" y="5175504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Hari pembelian tak berpengaruh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8001000" y="5687568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Tingkat telat berkisar </a:t>
            </a:r>
            <a:r>
              <a:rPr lang="en-US" sz="11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sempit</a:t>
            </a: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7,50% - 9,07% (Senin tertinggi, Minggu </a:t>
            </a:r>
            <a:r>
              <a:rPr lang="en-US" sz="11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terendah</a:t>
            </a: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</a:t>
            </a:r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Selisih</a:t>
            </a: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terlalu kecil untuk dasar tindakan.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TEMUAN · Q5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2C1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Ada Ambang Batas Kesabaran Pelanggan</a:t>
            </a:r>
            <a:endParaRPr lang="en-US" sz="27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2296084"/>
              </p:ext>
            </p:extLst>
          </p:nvPr>
        </p:nvGraphicFramePr>
        <p:xfrm>
          <a:off x="548640" y="1508760"/>
          <a:ext cx="6675120" cy="2331720"/>
        </p:xfrm>
        <a:graphic>
          <a:graphicData uri="http://schemas.openxmlformats.org/drawingml/2006/table">
            <a:tbl>
              <a:tblPr/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Kondisi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Skor ulasan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Ulasan 1–2★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Tepat waktu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9,19%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Telat 1–3 hari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19,22%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Telat 4–7 hari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61,25%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Telat 8–15 hari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78,58%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Telat &gt;15 hari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78,30%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4526280"/>
            <a:ext cx="6675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Titik patah antara hari ke-3 dan ke-7. </a:t>
            </a:r>
            <a:r>
              <a:rPr lang="en-US" sz="110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Ulasan</a:t>
            </a:r>
            <a:r>
              <a:rPr lang="en-US" sz="11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buruk melompat 3× (19,22% → 61,25%). Setelah hari ke-8, </a:t>
            </a:r>
            <a:r>
              <a:rPr lang="en-US" sz="110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kerusakan</a:t>
            </a:r>
            <a:r>
              <a:rPr lang="en-US" sz="11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jenuh</a:t>
            </a:r>
            <a:r>
              <a:rPr lang="en-US" sz="11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Telat 10 hari &amp; 60 hari sama-sama ±78% ulasan buruk. Median keterlambatan Olist (5,81 hari) jatuh tepat di kelompok ini.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7452360" y="1508760"/>
            <a:ext cx="4160520" cy="914400"/>
          </a:xfrm>
          <a:prstGeom prst="roundRect">
            <a:avLst>
              <a:gd name="adj" fmla="val 8000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7589520" y="1618488"/>
            <a:ext cx="3886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4.139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7589520" y="2057400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ulasan buruk aktual dari pesanan telat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452360" y="2560320"/>
            <a:ext cx="4160520" cy="914400"/>
          </a:xfrm>
          <a:prstGeom prst="roundRect">
            <a:avLst>
              <a:gd name="adj" fmla="val 8000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7589520" y="2670048"/>
            <a:ext cx="3886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2E7D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704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3108960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ulasan buruk wajar bila tepat waktu (9,19%)</a:t>
            </a:r>
            <a:endParaRPr lang="en-US" sz="1100" dirty="0"/>
          </a:p>
        </p:txBody>
      </p:sp>
      <p:sp>
        <p:nvSpPr>
          <p:cNvPr id="4" name="Shape 9"/>
          <p:cNvSpPr/>
          <p:nvPr/>
        </p:nvSpPr>
        <p:spPr>
          <a:xfrm>
            <a:off x="7452360" y="3611880"/>
            <a:ext cx="4160520" cy="1051560"/>
          </a:xfrm>
          <a:prstGeom prst="roundRect">
            <a:avLst>
              <a:gd name="adj" fmla="val 6957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 txBox="1"/>
          <p:nvPr/>
        </p:nvSpPr>
        <p:spPr>
          <a:xfrm>
            <a:off x="7589520" y="3721608"/>
            <a:ext cx="3886200" cy="5783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3.435</a:t>
            </a:r>
            <a:endParaRPr lang="en-US" sz="3000" dirty="0"/>
          </a:p>
        </p:txBody>
      </p:sp>
      <p:sp>
        <p:nvSpPr>
          <p:cNvPr id="14" name="Text 11"/>
          <p:cNvSpPr txBox="1"/>
          <p:nvPr/>
        </p:nvSpPr>
        <p:spPr>
          <a:xfrm>
            <a:off x="7589520" y="4242816"/>
            <a:ext cx="3886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pelanggan kecewa berlebih — akibat keterlambatan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7452360" y="4800600"/>
            <a:ext cx="4160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i="1" dirty="0">
                <a:solidFill>
                  <a:srgbClr val="85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BRL 1.124.036 </a:t>
            </a:r>
            <a:r>
              <a:rPr lang="en-US" sz="1000" i="1" dirty="0" err="1">
                <a:solidFill>
                  <a:srgbClr val="85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nilai</a:t>
            </a:r>
            <a:r>
              <a:rPr lang="en-US" sz="1000" i="1" dirty="0">
                <a:solidFill>
                  <a:srgbClr val="85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pesanan terdampak (bukan kerugian </a:t>
            </a:r>
            <a:r>
              <a:rPr lang="en-US" sz="1000" i="1" dirty="0" err="1">
                <a:solidFill>
                  <a:srgbClr val="85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finansial</a:t>
            </a:r>
            <a:r>
              <a:rPr lang="en-US" sz="1000" i="1" dirty="0">
                <a:solidFill>
                  <a:srgbClr val="85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85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langsung</a:t>
            </a:r>
            <a:r>
              <a:rPr lang="en-US" sz="1000" i="1" dirty="0">
                <a:solidFill>
                  <a:srgbClr val="85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000" i="1" dirty="0" err="1">
                <a:solidFill>
                  <a:srgbClr val="85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barang</a:t>
            </a:r>
            <a:r>
              <a:rPr lang="en-US" sz="1000" i="1" dirty="0">
                <a:solidFill>
                  <a:srgbClr val="85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tetap terkirim &amp; dibayar). Ini ukuran skala pendapatan yang berisiko terhadap kepercayaan pelanggan.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C1B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REKOMENDASI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7E8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Enam Langkah, Diurutkan dari Dampak Terbesar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3D2A1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731520" y="173736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167128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Arahkan perbaikan ke jaringan kurir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65176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86% selisih waktu telat vs tepat waktu ada di transit. Pembinaan penjual hanya menyentuh 14%.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389120" y="160020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3D2A1D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4572000" y="173736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2167128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Ubah target: bukan nol, tapi ≤3 hari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265176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Kerusakan kepuasan melonjak di </a:t>
            </a:r>
            <a:r>
              <a:rPr lang="en-US" sz="1000" dirty="0" err="1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hari</a:t>
            </a:r>
            <a:r>
              <a:rPr lang="en-US" sz="10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</a:t>
            </a:r>
            <a:r>
              <a:rPr lang="en-US" sz="10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3 - 7, jenuh setelah hari ke-8. Menarik </a:t>
            </a:r>
            <a:r>
              <a:rPr lang="en-US" sz="1000" dirty="0" err="1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telat</a:t>
            </a:r>
            <a:r>
              <a:rPr lang="en-US" sz="10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10 → 3 hari lebih murah dari mengejar ketepatan sempurna.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229600" y="160020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3D2A1D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8412480" y="173736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8412480" y="2167128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Tetapkan batas bawah selisih janji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412480" y="265176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Selisih janji turun 66% dalam 20 </a:t>
            </a:r>
            <a:r>
              <a:rPr lang="en-US" sz="1000" dirty="0" err="1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bulan</a:t>
            </a:r>
            <a:r>
              <a:rPr lang="en-US" sz="10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Di 13,4 hari (Ags 2018) telat naik ke 10,39%. Perlu batas bawah agar janji tak lampaui kapasitas.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48640" y="361188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3D2A1D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731520" y="37490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4178808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Prioritaskan wilayah utara &amp; timur laut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" y="466344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Maranhão, Ceará, Pará, Bahia </a:t>
            </a:r>
            <a:r>
              <a:rPr lang="en-US" sz="1000" dirty="0" err="1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konsisten</a:t>
            </a:r>
            <a:r>
              <a:rPr lang="en-US" sz="10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terburuk</a:t>
            </a:r>
            <a:r>
              <a:rPr lang="en-US" sz="10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Maranhão hampir 4× Paraná.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389120" y="361188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3D2A1D"/>
          </a:solidFill>
          <a:ln/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4572000" y="37490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0" y="4178808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Selidiki Rio de Janeiro terpisah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0" y="466344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13,52% telat padahal median transit 8,38 hari. Bukan soal janji: 10% pesanan paling lambat transit ≥24 hari. Telusuri ekor ini.</a:t>
            </a:r>
            <a:r>
              <a:rPr lang="en-US" sz="1000" dirty="0" err="1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0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000" dirty="0" err="1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0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8229600" y="361188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3D2A1D"/>
          </a:solidFill>
          <a:ln/>
        </p:spPr>
        <p:txBody>
          <a:bodyPr/>
          <a:p/>
        </p:txBody>
      </p:sp>
      <p:sp>
        <p:nvSpPr>
          <p:cNvPr id="25" name="Text 23"/>
          <p:cNvSpPr txBox="1"/>
          <p:nvPr/>
        </p:nvSpPr>
        <p:spPr>
          <a:xfrm>
            <a:off x="8412480" y="37490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400" dirty="0"/>
          </a:p>
        </p:txBody>
      </p:sp>
      <p:sp>
        <p:nvSpPr>
          <p:cNvPr id="26" name="Text 24"/>
          <p:cNvSpPr txBox="1"/>
          <p:nvPr/>
        </p:nvSpPr>
        <p:spPr>
          <a:xfrm>
            <a:off x="8412480" y="4178808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Siapkan dua protokol musiman berbeda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8412480" y="466344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 2017 = </a:t>
            </a:r>
            <a:r>
              <a:rPr lang="en-US" sz="1000" dirty="0" err="1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kapasitas</a:t>
            </a:r>
            <a:r>
              <a:rPr lang="en-US" sz="10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gudang, Feb – Mar 2018 = gangguan jaringan kurir. Satu protokol untuk keduanya akan meleset.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C1B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BATASAN ANALISIS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3611880" cy="1051560"/>
          </a:xfrm>
          <a:prstGeom prst="roundRect">
            <a:avLst>
              <a:gd name="adj" fmla="val 6957"/>
            </a:avLst>
          </a:prstGeom>
          <a:solidFill>
            <a:srgbClr val="3D2A1D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731520" y="105156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Cakupan data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344168"/>
            <a:ext cx="3246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Hanya pesanan delivered dengan tanggal </a:t>
            </a:r>
            <a:r>
              <a:rPr lang="en-US" sz="950" dirty="0" err="1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terima</a:t>
            </a:r>
            <a:r>
              <a:rPr lang="en-US" sz="95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dirty="0" err="1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terisi</a:t>
            </a:r>
            <a:r>
              <a:rPr lang="en-US" sz="95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Angka telat adalah batas bawah dari pengalaman buruk pelanggan.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4389120" y="960120"/>
            <a:ext cx="3611880" cy="1051560"/>
          </a:xfrm>
          <a:prstGeom prst="roundRect">
            <a:avLst>
              <a:gd name="adj" fmla="val 6957"/>
            </a:avLst>
          </a:prstGeom>
          <a:solidFill>
            <a:srgbClr val="3D2A1D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4572000" y="105156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Periode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572000" y="1344168"/>
            <a:ext cx="3246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berakhir </a:t>
            </a:r>
            <a:r>
              <a:rPr lang="en-US" sz="950" dirty="0" err="1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Ags</a:t>
            </a:r>
            <a:r>
              <a:rPr lang="en-US" sz="95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2018, tren perbaikan sejak Apr belum pasti bertahan.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8229600" y="960120"/>
            <a:ext cx="3611880" cy="1051560"/>
          </a:xfrm>
          <a:prstGeom prst="roundRect">
            <a:avLst>
              <a:gd name="adj" fmla="val 6957"/>
            </a:avLst>
          </a:prstGeom>
          <a:solidFill>
            <a:srgbClr val="3D2A1D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8412480" y="105156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Nilai kerugian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412480" y="1344168"/>
            <a:ext cx="3246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BRL 1.124.036 </a:t>
            </a:r>
            <a:r>
              <a:rPr lang="en-US" sz="950" dirty="0" err="1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adalah</a:t>
            </a:r>
            <a:r>
              <a:rPr lang="en-US" sz="95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nilai pesanan terdampak, bukan kerugian finansial langsung.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48640" y="2194560"/>
            <a:ext cx="3611880" cy="1051560"/>
          </a:xfrm>
          <a:prstGeom prst="roundRect">
            <a:avLst>
              <a:gd name="adj" fmla="val 6957"/>
            </a:avLst>
          </a:prstGeom>
          <a:solidFill>
            <a:srgbClr val="3D2A1D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731520" y="228600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Ukuran kepuasan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2578608"/>
            <a:ext cx="3246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643 pesanan tanpa ulasan dikeluarkan </a:t>
            </a:r>
            <a:r>
              <a:rPr lang="en-US" sz="950" dirty="0" err="1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dari</a:t>
            </a:r>
            <a:r>
              <a:rPr lang="en-US" sz="95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Q5. </a:t>
            </a:r>
            <a:r>
              <a:rPr lang="en-US" sz="950" dirty="0" err="1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Pelanggan</a:t>
            </a:r>
            <a:r>
              <a:rPr lang="en-US" sz="95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kecewa tanpa ulasan tak terwakili.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389120" y="2194560"/>
            <a:ext cx="3611880" cy="1051560"/>
          </a:xfrm>
          <a:prstGeom prst="roundRect">
            <a:avLst>
              <a:gd name="adj" fmla="val 6957"/>
            </a:avLst>
          </a:prstGeom>
          <a:solidFill>
            <a:srgbClr val="3D2A1D"/>
          </a:solidFill>
          <a:ln/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4572000" y="228600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Ambang volume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0" y="2578608"/>
            <a:ext cx="3246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Peringkat provinsi pakai batas ≥500 </a:t>
            </a:r>
            <a:r>
              <a:rPr lang="en-US" sz="950" dirty="0" err="1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pesanan</a:t>
            </a:r>
            <a:r>
              <a:rPr lang="en-US" sz="95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Alagoas &amp; Piauí tak muncul meski lebih buruk.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8229600" y="2194560"/>
            <a:ext cx="3611880" cy="1051560"/>
          </a:xfrm>
          <a:prstGeom prst="roundRect">
            <a:avLst>
              <a:gd name="adj" fmla="val 6957"/>
            </a:avLst>
          </a:prstGeom>
          <a:solidFill>
            <a:srgbClr val="3D2A1D"/>
          </a:solidFill>
          <a:ln/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8412480" y="228600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 err="1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Sebab</a:t>
            </a: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b="1" dirty="0" err="1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akibat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412480" y="2578608"/>
            <a:ext cx="3246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Penyebab gangguan </a:t>
            </a:r>
            <a:r>
              <a:rPr lang="en-US" sz="950" dirty="0" err="1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jaringan</a:t>
            </a:r>
            <a:r>
              <a:rPr lang="en-US" sz="95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Feb – Mar 2018 </a:t>
            </a:r>
            <a:r>
              <a:rPr lang="en-US" sz="950" dirty="0" err="1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</a:t>
            </a:r>
            <a:r>
              <a:rPr lang="en-US" sz="95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dirty="0" err="1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dapat</a:t>
            </a:r>
            <a:r>
              <a:rPr lang="en-US" sz="95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dirty="0" err="1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dipastikan</a:t>
            </a:r>
            <a:r>
              <a:rPr lang="en-US" sz="95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Tak ada data mitra kurir/rute/kejadian eksternal.</a:t>
            </a:r>
            <a:endParaRPr lang="en-US" sz="950" dirty="0"/>
          </a:p>
        </p:txBody>
      </p:sp>
      <p:pic>
        <p:nvPicPr>
          <p:cNvPr id="21" name="Image 0" descr="assets/box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0" y="3429000"/>
            <a:ext cx="2286000" cy="2286000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914400" y="580644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7E8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Diagnosis Keterlambatan Pengiriman Marketplace Olist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914400" y="626364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Terima kasih — Arif Herfian Zaen Chartiko · Jan 2017–Ags 2018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73</TotalTime>
  <Words>1828</Words>
  <Application>Microsoft Office PowerPoint</Application>
  <PresentationFormat>Widescreen</PresentationFormat>
  <Paragraphs>280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msi bravo</cp:lastModifiedBy>
  <cp:revision>20</cp:revision>
  <dcterms:created xsi:type="dcterms:W3CDTF">2026-09-04T08:07:30Z</dcterms:created>
  <dcterms:modified xsi:type="dcterms:W3CDTF">2026-09-07T07:15:43Z</dcterms:modified>
</cp:coreProperties>
</file>